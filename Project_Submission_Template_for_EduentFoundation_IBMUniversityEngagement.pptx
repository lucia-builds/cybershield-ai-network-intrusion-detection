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83" r:id="rId2"/>
    <p:sldId id="257" r:id="rId3"/>
    <p:sldId id="282" r:id="rId4"/>
    <p:sldId id="284" r:id="rId5"/>
    <p:sldId id="285" r:id="rId6"/>
    <p:sldId id="281" r:id="rId7"/>
    <p:sldId id="279" r:id="rId8"/>
    <p:sldId id="262" r:id="rId9"/>
    <p:sldId id="288" r:id="rId10"/>
    <p:sldId id="264" r:id="rId11"/>
    <p:sldId id="277" r:id="rId12"/>
    <p:sldId id="286" r:id="rId13"/>
    <p:sldId id="287" r:id="rId14"/>
    <p:sldId id="280" r:id="rId15"/>
    <p:sldId id="27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86"/>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upesh Vyankat Ther" userId="3dcf1697-dd97-45f9-859f-b5bba4487417" providerId="ADAL" clId="{AACA8776-A2A4-4F1B-9F7F-63139F6D7F84}"/>
    <pc:docChg chg="undo custSel delSld modSld">
      <pc:chgData name="Bhupesh Vyankat Ther" userId="3dcf1697-dd97-45f9-859f-b5bba4487417" providerId="ADAL" clId="{AACA8776-A2A4-4F1B-9F7F-63139F6D7F84}" dt="2026-06-10T13:06:19.397" v="58" actId="2696"/>
      <pc:docMkLst>
        <pc:docMk/>
      </pc:docMkLst>
      <pc:sldChg chg="addSp delSp modSp mod">
        <pc:chgData name="Bhupesh Vyankat Ther" userId="3dcf1697-dd97-45f9-859f-b5bba4487417" providerId="ADAL" clId="{AACA8776-A2A4-4F1B-9F7F-63139F6D7F84}" dt="2026-06-10T13:04:47.692" v="57" actId="478"/>
        <pc:sldMkLst>
          <pc:docMk/>
          <pc:sldMk cId="0" sldId="257"/>
        </pc:sldMkLst>
        <pc:spChg chg="add del mod">
          <ac:chgData name="Bhupesh Vyankat Ther" userId="3dcf1697-dd97-45f9-859f-b5bba4487417" providerId="ADAL" clId="{AACA8776-A2A4-4F1B-9F7F-63139F6D7F84}" dt="2026-06-10T13:04:47.692" v="57" actId="478"/>
          <ac:spMkLst>
            <pc:docMk/>
            <pc:sldMk cId="0" sldId="257"/>
            <ac:spMk id="4" creationId="{A828B9EF-C084-F5D4-CA27-75AF7D995640}"/>
          </ac:spMkLst>
        </pc:spChg>
        <pc:spChg chg="mod">
          <ac:chgData name="Bhupesh Vyankat Ther" userId="3dcf1697-dd97-45f9-859f-b5bba4487417" providerId="ADAL" clId="{AACA8776-A2A4-4F1B-9F7F-63139F6D7F84}" dt="2026-06-10T13:04:33.890" v="52" actId="20577"/>
          <ac:spMkLst>
            <pc:docMk/>
            <pc:sldMk cId="0" sldId="257"/>
            <ac:spMk id="7" creationId="{3D723CA3-EC2D-165A-F109-3759C4E9C8A4}"/>
          </ac:spMkLst>
        </pc:spChg>
      </pc:sldChg>
      <pc:sldChg chg="del">
        <pc:chgData name="Bhupesh Vyankat Ther" userId="3dcf1697-dd97-45f9-859f-b5bba4487417" providerId="ADAL" clId="{AACA8776-A2A4-4F1B-9F7F-63139F6D7F84}" dt="2026-06-10T13:06:19.397" v="58" actId="2696"/>
        <pc:sldMkLst>
          <pc:docMk/>
          <pc:sldMk cId="3764405840" sldId="27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lucia-builds/cybershield-ai-network-intrusion-detection.git"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416227615"/>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rtl="0">
                        <a:spcBef>
                          <a:spcPts val="0"/>
                        </a:spcBef>
                        <a:spcAft>
                          <a:spcPts val="0"/>
                        </a:spcAft>
                        <a:buNone/>
                      </a:pPr>
                      <a:endParaRPr lang="en-US" sz="1800" dirty="0"/>
                    </a:p>
                    <a:p>
                      <a:pPr marL="0" marR="0" lvl="0" indent="0" algn="ctr" rtl="0">
                        <a:spcBef>
                          <a:spcPts val="0"/>
                        </a:spcBef>
                        <a:spcAft>
                          <a:spcPts val="0"/>
                        </a:spcAft>
                        <a:buNone/>
                      </a:pPr>
                      <a:r>
                        <a:rPr lang="en-US" sz="1800" dirty="0"/>
                        <a:t>Anwesha Sural</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sz="1700" dirty="0"/>
                    </a:p>
                    <a:p>
                      <a:pPr marL="0" marR="0" lvl="0" indent="0" algn="l" rtl="0">
                        <a:spcBef>
                          <a:spcPts val="0"/>
                        </a:spcBef>
                        <a:spcAft>
                          <a:spcPts val="0"/>
                        </a:spcAft>
                        <a:buNone/>
                      </a:pPr>
                      <a:r>
                        <a:rPr lang="en-IN" sz="1700" b="0" i="0" u="none" strike="noStrike" cap="none" dirty="0">
                          <a:solidFill>
                            <a:srgbClr val="000000"/>
                          </a:solidFill>
                          <a:effectLst/>
                          <a:latin typeface="Arial"/>
                          <a:ea typeface="Arial"/>
                          <a:cs typeface="Arial"/>
                          <a:sym typeface="Arial"/>
                        </a:rPr>
                        <a:t>lucia67217@gmail.com</a:t>
                      </a:r>
                      <a:endParaRPr sz="17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dirty="0"/>
                    </a:p>
                    <a:p>
                      <a:pPr marL="0" marR="0" lvl="0" indent="0" algn="ctr" rtl="0">
                        <a:spcBef>
                          <a:spcPts val="0"/>
                        </a:spcBef>
                        <a:spcAft>
                          <a:spcPts val="0"/>
                        </a:spcAft>
                        <a:buNone/>
                      </a:pPr>
                      <a:r>
                        <a:rPr lang="en-IN" sz="1800" dirty="0"/>
                        <a:t>      8420419545</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a:t>
            </a:r>
            <a:r>
              <a:rPr lang="en-IN" sz="2400" dirty="0"/>
              <a:t>Network Security</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10071438" cy="830997"/>
          </a:xfrm>
          <a:prstGeom prst="rect">
            <a:avLst/>
          </a:prstGeom>
          <a:noFill/>
        </p:spPr>
        <p:txBody>
          <a:bodyPr wrap="square" rtlCol="0">
            <a:spAutoFit/>
          </a:bodyPr>
          <a:lstStyle/>
          <a:p>
            <a:r>
              <a:rPr lang="en-US" sz="2400" b="1" dirty="0"/>
              <a:t>Project Tile – AI-Powered Network Intrusion Detection System using Machine Learning</a:t>
            </a:r>
            <a:endParaRPr lang="en-IN" sz="2400" b="1" dirty="0">
              <a:highlight>
                <a:srgbClr val="FFFF00"/>
              </a:highlight>
            </a:endParaRPr>
          </a:p>
        </p:txBody>
      </p:sp>
      <p:pic>
        <p:nvPicPr>
          <p:cNvPr id="2" name="Picture 1">
            <a:extLst>
              <a:ext uri="{FF2B5EF4-FFF2-40B4-BE49-F238E27FC236}">
                <a16:creationId xmlns:a16="http://schemas.microsoft.com/office/drawing/2014/main" id="{82677845-D4F7-FCF3-3F41-F91640357249}"/>
              </a:ext>
            </a:extLst>
          </p:cNvPr>
          <p:cNvPicPr>
            <a:picLocks noChangeAspect="1"/>
          </p:cNvPicPr>
          <p:nvPr/>
        </p:nvPicPr>
        <p:blipFill>
          <a:blip r:embed="rId3"/>
          <a:stretch>
            <a:fillRect/>
          </a:stretch>
        </p:blipFill>
        <p:spPr>
          <a:xfrm>
            <a:off x="4149164" y="3683879"/>
            <a:ext cx="825957" cy="99078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321820"/>
            <a:ext cx="11311128" cy="4616648"/>
          </a:xfrm>
          <a:prstGeom prst="rect">
            <a:avLst/>
          </a:prstGeom>
          <a:noFill/>
        </p:spPr>
        <p:txBody>
          <a:bodyPr wrap="square" rtlCol="0">
            <a:spAutoFit/>
          </a:bodyPr>
          <a:lstStyle/>
          <a:p>
            <a:pPr fontAlgn="base"/>
            <a:r>
              <a:rPr lang="en-US" b="1" dirty="0"/>
              <a:t>Problem Statement : </a:t>
            </a:r>
            <a:r>
              <a:rPr lang="en-IN" b="1" dirty="0" err="1"/>
              <a:t>CyberShield</a:t>
            </a:r>
            <a:r>
              <a:rPr lang="en-IN" b="1" dirty="0"/>
              <a:t> AI – Network Intrusion Detection</a:t>
            </a:r>
            <a:endParaRPr lang="en-US" b="1" dirty="0"/>
          </a:p>
          <a:p>
            <a:pPr fontAlgn="base"/>
            <a:endParaRPr lang="en-US" b="1" dirty="0"/>
          </a:p>
          <a:p>
            <a:pPr fontAlgn="base"/>
            <a:r>
              <a:rPr lang="en-US" b="1" dirty="0"/>
              <a:t>The Challenge</a:t>
            </a:r>
            <a:r>
              <a:rPr lang="en-US" dirty="0"/>
              <a:t> </a:t>
            </a:r>
          </a:p>
          <a:p>
            <a:pPr fontAlgn="base"/>
            <a:r>
              <a:rPr lang="en-IN" dirty="0"/>
              <a:t>In modern communication networks, cyber-attacks are increasing rapidly. Network traffic may contain normal activities as well as malicious activities such as </a:t>
            </a:r>
            <a:r>
              <a:rPr lang="en-IN" b="1" dirty="0"/>
              <a:t>DoS attacks, Probe attacks, R2L attacks, and U2R attacks</a:t>
            </a:r>
            <a:r>
              <a:rPr lang="en-IN" dirty="0"/>
              <a:t>. Manually monitoring network traffic is difficult, time-consuming, and error-prone. There is a need for an intelligent machine learning-based system that can automatically </a:t>
            </a:r>
            <a:r>
              <a:rPr lang="en-IN" dirty="0" err="1"/>
              <a:t>analyze</a:t>
            </a:r>
            <a:r>
              <a:rPr lang="en-IN" dirty="0"/>
              <a:t> network traffic data and identify whether the activity is </a:t>
            </a:r>
            <a:r>
              <a:rPr lang="en-IN" b="1" dirty="0"/>
              <a:t>normal or suspicious/anomalous</a:t>
            </a:r>
            <a:r>
              <a:rPr lang="en-IN" dirty="0"/>
              <a:t>.</a:t>
            </a:r>
          </a:p>
          <a:p>
            <a:pPr fontAlgn="base"/>
            <a:endParaRPr lang="en-US" dirty="0"/>
          </a:p>
          <a:p>
            <a:pPr fontAlgn="base"/>
            <a:r>
              <a:rPr lang="en-US" b="1" dirty="0"/>
              <a:t>The Objective</a:t>
            </a:r>
            <a:r>
              <a:rPr lang="en-US" dirty="0"/>
              <a:t> </a:t>
            </a:r>
          </a:p>
          <a:p>
            <a:r>
              <a:rPr lang="en-IN" dirty="0"/>
              <a:t>Build an </a:t>
            </a:r>
            <a:r>
              <a:rPr lang="en-IN" b="1" dirty="0"/>
              <a:t>ML-based Network Intrusion Detection System</a:t>
            </a:r>
            <a:r>
              <a:rPr lang="en-IN" dirty="0"/>
              <a:t> that can classify network traffic as </a:t>
            </a:r>
            <a:r>
              <a:rPr lang="en-IN" b="1" dirty="0"/>
              <a:t>Normal or Intrusion/Anomaly</a:t>
            </a:r>
            <a:r>
              <a:rPr lang="en-IN" dirty="0"/>
              <a:t> using machine learning. The solution should help in early detection of malicious network activities and improve cybersecurity monitoring.</a:t>
            </a:r>
          </a:p>
          <a:p>
            <a:r>
              <a:rPr lang="en-IN" dirty="0"/>
              <a:t>The solution should include:</a:t>
            </a:r>
          </a:p>
          <a:p>
            <a:r>
              <a:rPr lang="en-IN" b="1" dirty="0"/>
              <a:t>Network Traffic Data Analysis</a:t>
            </a:r>
            <a:r>
              <a:rPr lang="en-IN" dirty="0"/>
              <a:t> – </a:t>
            </a:r>
            <a:r>
              <a:rPr lang="en-IN" dirty="0" err="1"/>
              <a:t>Analyze</a:t>
            </a:r>
            <a:r>
              <a:rPr lang="en-IN" dirty="0"/>
              <a:t> network traffic features such as protocol type, service, flag, source bytes, destination bytes, and connection details. </a:t>
            </a:r>
          </a:p>
          <a:p>
            <a:r>
              <a:rPr lang="en-IN" b="1" dirty="0"/>
              <a:t>Data Preprocessing</a:t>
            </a:r>
            <a:r>
              <a:rPr lang="en-IN" dirty="0"/>
              <a:t> – Handle categorical values, clean the dataset, and prepare it for machine learning. </a:t>
            </a:r>
          </a:p>
          <a:p>
            <a:r>
              <a:rPr lang="en-IN" b="1" dirty="0"/>
              <a:t>ML Model Training</a:t>
            </a:r>
            <a:r>
              <a:rPr lang="en-IN" dirty="0"/>
              <a:t> – Train classification models using IBM watsonx.ai </a:t>
            </a:r>
            <a:r>
              <a:rPr lang="en-IN" dirty="0" err="1"/>
              <a:t>AutoAI</a:t>
            </a:r>
            <a:r>
              <a:rPr lang="en-IN" dirty="0"/>
              <a:t>. </a:t>
            </a:r>
          </a:p>
          <a:p>
            <a:r>
              <a:rPr lang="en-IN" b="1" dirty="0"/>
              <a:t>Intrusion Detection</a:t>
            </a:r>
            <a:r>
              <a:rPr lang="en-IN" dirty="0"/>
              <a:t> – Predict whether network traffic is </a:t>
            </a:r>
            <a:r>
              <a:rPr lang="en-IN" b="1" dirty="0"/>
              <a:t>Normal</a:t>
            </a:r>
            <a:r>
              <a:rPr lang="en-IN" dirty="0"/>
              <a:t> or </a:t>
            </a:r>
            <a:r>
              <a:rPr lang="en-IN" b="1" dirty="0"/>
              <a:t>Anomaly/Intrusion</a:t>
            </a:r>
            <a:r>
              <a:rPr lang="en-IN" dirty="0"/>
              <a:t>. </a:t>
            </a:r>
          </a:p>
          <a:p>
            <a:r>
              <a:rPr lang="en-IN" b="1" dirty="0"/>
              <a:t>Model Evaluation</a:t>
            </a:r>
            <a:r>
              <a:rPr lang="en-IN" dirty="0"/>
              <a:t> – Evaluate the model using accuracy and other performance metrics. </a:t>
            </a:r>
          </a:p>
          <a:p>
            <a:r>
              <a:rPr lang="en-IN" b="1" dirty="0"/>
              <a:t>IBM Cloud Deployment</a:t>
            </a:r>
            <a:r>
              <a:rPr lang="en-IN" dirty="0"/>
              <a:t> – Deploy the trained model using IBM watsonx.ai online deployment. </a:t>
            </a:r>
          </a:p>
          <a:p>
            <a:r>
              <a:rPr lang="en-IN" b="1" dirty="0"/>
              <a:t>Frontend Interface</a:t>
            </a:r>
            <a:r>
              <a:rPr lang="en-IN" dirty="0"/>
              <a:t> – Use a </a:t>
            </a:r>
            <a:r>
              <a:rPr lang="en-IN" dirty="0" err="1"/>
              <a:t>Streamlit</a:t>
            </a:r>
            <a:r>
              <a:rPr lang="en-IN" dirty="0"/>
              <a:t> web app where users can upload test CSV data and get prediction results. </a:t>
            </a:r>
          </a:p>
          <a:p>
            <a:r>
              <a:rPr lang="en-IN" b="1" dirty="0"/>
              <a:t>Visualization/Result Dashboard</a:t>
            </a:r>
            <a:r>
              <a:rPr lang="en-IN" dirty="0"/>
              <a:t> – Show uploaded data, prediction output, and classification results.</a:t>
            </a:r>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54730" y="1273908"/>
            <a:ext cx="10607040" cy="3323987"/>
          </a:xfrm>
          <a:prstGeom prst="rect">
            <a:avLst/>
          </a:prstGeom>
          <a:noFill/>
        </p:spPr>
        <p:txBody>
          <a:bodyPr wrap="square" rtlCol="0">
            <a:spAutoFit/>
          </a:bodyPr>
          <a:lstStyle/>
          <a:p>
            <a:pPr fontAlgn="base"/>
            <a:endParaRPr lang="en-US" b="1" dirty="0"/>
          </a:p>
          <a:p>
            <a:pPr fontAlgn="base"/>
            <a:r>
              <a:rPr lang="en-IN" b="1" dirty="0"/>
              <a:t>Tech Stack </a:t>
            </a:r>
          </a:p>
          <a:p>
            <a:pPr fontAlgn="base"/>
            <a:r>
              <a:rPr lang="en-IN" dirty="0"/>
              <a:t>IBM Cloud Lite Services</a:t>
            </a:r>
            <a:br>
              <a:rPr lang="en-IN" dirty="0"/>
            </a:br>
            <a:r>
              <a:rPr lang="en-IN" dirty="0"/>
              <a:t>IBM watsonx.ai</a:t>
            </a:r>
            <a:br>
              <a:rPr lang="en-IN" dirty="0"/>
            </a:br>
            <a:r>
              <a:rPr lang="en-IN" dirty="0"/>
              <a:t>IBM watsonx.ai Runtime</a:t>
            </a:r>
            <a:br>
              <a:rPr lang="en-IN" dirty="0"/>
            </a:br>
            <a:r>
              <a:rPr lang="en-IN" dirty="0"/>
              <a:t>IBM </a:t>
            </a:r>
            <a:r>
              <a:rPr lang="en-IN" dirty="0" err="1"/>
              <a:t>AutoAI</a:t>
            </a:r>
            <a:br>
              <a:rPr lang="en-IN" dirty="0"/>
            </a:br>
            <a:r>
              <a:rPr lang="en-IN" dirty="0"/>
              <a:t>Machine Learning</a:t>
            </a:r>
            <a:br>
              <a:rPr lang="en-IN" dirty="0"/>
            </a:br>
            <a:r>
              <a:rPr lang="en-IN" dirty="0"/>
              <a:t>Python</a:t>
            </a:r>
            <a:br>
              <a:rPr lang="en-IN" dirty="0"/>
            </a:br>
            <a:r>
              <a:rPr lang="en-IN" dirty="0" err="1"/>
              <a:t>Streamlit</a:t>
            </a:r>
            <a:br>
              <a:rPr lang="en-IN" dirty="0"/>
            </a:br>
            <a:r>
              <a:rPr lang="en-IN" dirty="0"/>
              <a:t>Pandas</a:t>
            </a:r>
            <a:br>
              <a:rPr lang="en-IN" dirty="0"/>
            </a:br>
            <a:r>
              <a:rPr lang="en-IN" dirty="0"/>
              <a:t>Network Intrusion Detection Dataset</a:t>
            </a:r>
          </a:p>
          <a:p>
            <a:pPr fontAlgn="base"/>
            <a:endParaRPr lang="en-IN" dirty="0"/>
          </a:p>
          <a:p>
            <a:pPr fontAlgn="base"/>
            <a:r>
              <a:rPr lang="en-IN" dirty="0"/>
              <a:t>I used </a:t>
            </a:r>
            <a:r>
              <a:rPr lang="en-IN" dirty="0">
                <a:highlight>
                  <a:srgbClr val="FFFF00"/>
                </a:highlight>
              </a:rPr>
              <a:t>IBM Cloud Lite + IBM watsonx.ai </a:t>
            </a:r>
            <a:r>
              <a:rPr lang="en-IN" dirty="0" err="1">
                <a:highlight>
                  <a:srgbClr val="FFFF00"/>
                </a:highlight>
              </a:rPr>
              <a:t>AutoAI</a:t>
            </a:r>
            <a:r>
              <a:rPr lang="en-IN" dirty="0">
                <a:highlight>
                  <a:srgbClr val="FFFF00"/>
                </a:highlight>
              </a:rPr>
              <a:t> + watsonx.ai Runtime + </a:t>
            </a:r>
            <a:r>
              <a:rPr lang="en-IN" dirty="0" err="1">
                <a:highlight>
                  <a:srgbClr val="FFFF00"/>
                </a:highlight>
              </a:rPr>
              <a:t>Streamlit</a:t>
            </a:r>
            <a:endParaRPr lang="en-IN" dirty="0">
              <a:highlight>
                <a:srgbClr val="FFFF00"/>
              </a:highlight>
            </a:endParaRPr>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262979"/>
          </a:xfrm>
          <a:prstGeom prst="rect">
            <a:avLst/>
          </a:prstGeom>
          <a:noFill/>
        </p:spPr>
        <p:txBody>
          <a:bodyPr wrap="square" rtlCol="0">
            <a:spAutoFit/>
          </a:bodyPr>
          <a:lstStyle/>
          <a:p>
            <a:pPr fontAlgn="base"/>
            <a:endParaRPr lang="en-US" b="1" dirty="0"/>
          </a:p>
          <a:p>
            <a:r>
              <a:rPr lang="en-US" b="1" dirty="0"/>
              <a:t>Proposed Solution: </a:t>
            </a:r>
            <a:r>
              <a:rPr lang="en-US" b="1" dirty="0" err="1"/>
              <a:t>CyberShield</a:t>
            </a:r>
            <a:r>
              <a:rPr lang="en-US" b="1" dirty="0"/>
              <a:t> AI – Network Intrusion Detection System</a:t>
            </a:r>
          </a:p>
          <a:p>
            <a:endParaRPr lang="en-US" b="1" dirty="0"/>
          </a:p>
          <a:p>
            <a:r>
              <a:rPr lang="en-IN" dirty="0"/>
              <a:t>The proposed solution is an </a:t>
            </a:r>
            <a:r>
              <a:rPr lang="en-IN" b="1" dirty="0"/>
              <a:t>ML-based Network Intrusion Detection System </a:t>
            </a:r>
            <a:r>
              <a:rPr lang="en-IN" dirty="0"/>
              <a:t>built using </a:t>
            </a:r>
            <a:r>
              <a:rPr lang="en-IN" b="1" dirty="0"/>
              <a:t>IBM Cloud Lite, IBM watsonx.ai </a:t>
            </a:r>
            <a:r>
              <a:rPr lang="en-IN" b="1" dirty="0" err="1"/>
              <a:t>AutoAI</a:t>
            </a:r>
            <a:r>
              <a:rPr lang="en-IN" b="1" dirty="0"/>
              <a:t>, watsonx.ai Runtime, </a:t>
            </a:r>
            <a:r>
              <a:rPr lang="en-IN" dirty="0"/>
              <a:t>and</a:t>
            </a:r>
            <a:r>
              <a:rPr lang="en-IN" b="1" dirty="0"/>
              <a:t> </a:t>
            </a:r>
            <a:r>
              <a:rPr lang="en-IN" b="1" dirty="0" err="1"/>
              <a:t>Streamlit</a:t>
            </a:r>
            <a:r>
              <a:rPr lang="en-IN" dirty="0"/>
              <a:t>. The system </a:t>
            </a:r>
            <a:r>
              <a:rPr lang="en-IN" dirty="0" err="1"/>
              <a:t>analyzes</a:t>
            </a:r>
            <a:r>
              <a:rPr lang="en-IN" dirty="0"/>
              <a:t> network traffic data and predicts whether the traffic is normal, malicious or anomalous.</a:t>
            </a:r>
            <a:br>
              <a:rPr lang="en-IN" dirty="0"/>
            </a:br>
            <a:br>
              <a:rPr lang="en-IN" dirty="0"/>
            </a:br>
            <a:r>
              <a:rPr lang="en-IN" dirty="0"/>
              <a:t>The solution uses a supervised machine learning classification approach. The dataset contains network traffic features such as duration, protocol type, service, flag, source bytes, destination bytes, and other connection-related attributes. The target column is class, which identifies whether the traffic is normal or anomaly.</a:t>
            </a:r>
            <a:br>
              <a:rPr lang="en-IN" dirty="0"/>
            </a:br>
            <a:br>
              <a:rPr lang="en-IN" dirty="0"/>
            </a:br>
            <a:r>
              <a:rPr lang="en-IN" b="1" dirty="0"/>
              <a:t>The system workflow includes:</a:t>
            </a:r>
            <a:br>
              <a:rPr lang="en-IN" dirty="0"/>
            </a:br>
            <a:r>
              <a:rPr lang="en-IN" b="1" dirty="0"/>
              <a:t>1. Dataset Upload – </a:t>
            </a:r>
            <a:r>
              <a:rPr lang="en-IN" dirty="0"/>
              <a:t>The network intrusion detection dataset is uploaded into IBM watsonx.ai </a:t>
            </a:r>
            <a:r>
              <a:rPr lang="en-IN" dirty="0" err="1"/>
              <a:t>AutoAI</a:t>
            </a:r>
            <a:r>
              <a:rPr lang="en-IN" dirty="0"/>
              <a:t>.</a:t>
            </a:r>
            <a:br>
              <a:rPr lang="en-IN" dirty="0"/>
            </a:br>
            <a:r>
              <a:rPr lang="en-IN" b="1" dirty="0"/>
              <a:t>2. Data Preprocessing – </a:t>
            </a:r>
            <a:r>
              <a:rPr lang="en-IN" dirty="0" err="1"/>
              <a:t>AutoAI</a:t>
            </a:r>
            <a:r>
              <a:rPr lang="en-IN" dirty="0"/>
              <a:t> handles feature processing, categorical encoding, and model preparation.</a:t>
            </a:r>
            <a:br>
              <a:rPr lang="en-IN" dirty="0"/>
            </a:br>
            <a:r>
              <a:rPr lang="en-IN" b="1" dirty="0"/>
              <a:t>3. Model Training – </a:t>
            </a:r>
            <a:r>
              <a:rPr lang="en-IN" dirty="0"/>
              <a:t>IBM </a:t>
            </a:r>
            <a:r>
              <a:rPr lang="en-IN" dirty="0" err="1"/>
              <a:t>AutoAI</a:t>
            </a:r>
            <a:r>
              <a:rPr lang="en-IN" dirty="0"/>
              <a:t> generates multiple ML pipelines and selects the best-performing model.</a:t>
            </a:r>
            <a:br>
              <a:rPr lang="en-IN" dirty="0"/>
            </a:br>
            <a:r>
              <a:rPr lang="en-IN" b="1" dirty="0"/>
              <a:t>4. Best Model Selection – </a:t>
            </a:r>
            <a:r>
              <a:rPr lang="en-IN" dirty="0"/>
              <a:t>The best pipeline selected was a Snap Decision Tree Classifier with high accuracy.</a:t>
            </a:r>
            <a:br>
              <a:rPr lang="en-IN" dirty="0"/>
            </a:br>
            <a:r>
              <a:rPr lang="en-IN" b="1" dirty="0"/>
              <a:t>5. Model Deployment – </a:t>
            </a:r>
            <a:r>
              <a:rPr lang="en-IN" dirty="0"/>
              <a:t>The trained model is saved and deployed as an online deployment using watsonx.ai Runtime.</a:t>
            </a:r>
            <a:br>
              <a:rPr lang="en-IN" dirty="0"/>
            </a:br>
            <a:r>
              <a:rPr lang="en-IN" b="1" dirty="0"/>
              <a:t>6. Frontend Integration – </a:t>
            </a:r>
            <a:r>
              <a:rPr lang="en-IN" dirty="0"/>
              <a:t>A </a:t>
            </a:r>
            <a:r>
              <a:rPr lang="en-IN" dirty="0" err="1"/>
              <a:t>Streamlit</a:t>
            </a:r>
            <a:r>
              <a:rPr lang="en-IN" dirty="0"/>
              <a:t> web application is created where users can upload test CSV data.</a:t>
            </a:r>
            <a:br>
              <a:rPr lang="en-IN" dirty="0"/>
            </a:br>
            <a:r>
              <a:rPr lang="en-IN" b="1" dirty="0"/>
              <a:t>7. Prediction Output – </a:t>
            </a:r>
            <a:r>
              <a:rPr lang="en-IN" dirty="0"/>
              <a:t>The frontend connects to the IBM deployment endpoint and displays predictions as normal or anomaly.</a:t>
            </a:r>
            <a:br>
              <a:rPr lang="en-IN" dirty="0"/>
            </a:br>
            <a:br>
              <a:rPr lang="en-IN" dirty="0"/>
            </a:br>
            <a:r>
              <a:rPr lang="en-IN" dirty="0"/>
              <a:t>The final system provides a simple and practical cybersecurity solution that can help identify suspicious network activity at an early stage. It demonstrates the use of IBM Cloud services, machine learning, deployment, and frontend integration in one complete project.</a:t>
            </a:r>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buClr>
                <a:srgbClr val="051D3A"/>
              </a:buClr>
              <a:buSzPts val="3500"/>
            </a:pPr>
            <a:r>
              <a:rPr lang="en-US" sz="2400" b="1" dirty="0">
                <a:sym typeface="Times New Roman"/>
              </a:rPr>
              <a:t>IBM watsonx.ai Components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537590" y="1056338"/>
            <a:ext cx="11343552" cy="5693866"/>
          </a:xfrm>
          <a:prstGeom prst="rect">
            <a:avLst/>
          </a:prstGeom>
          <a:noFill/>
        </p:spPr>
        <p:txBody>
          <a:bodyPr wrap="square" rtlCol="0">
            <a:spAutoFit/>
          </a:bodyPr>
          <a:lstStyle/>
          <a:p>
            <a:r>
              <a:rPr lang="en-US" b="1" dirty="0"/>
              <a:t>1) IBM Cloud Object Storage – </a:t>
            </a:r>
            <a:r>
              <a:rPr lang="en-US" dirty="0"/>
              <a:t>Stores the uploaded Network Intrusion Detection dataset.</a:t>
            </a:r>
          </a:p>
          <a:p>
            <a:endParaRPr lang="en-US" b="1" dirty="0"/>
          </a:p>
          <a:p>
            <a:r>
              <a:rPr lang="en-US" b="1" dirty="0"/>
              <a:t>2) IBM watsonx.ai </a:t>
            </a:r>
            <a:r>
              <a:rPr lang="en-US" b="1" dirty="0" err="1"/>
              <a:t>AutoAI</a:t>
            </a:r>
            <a:r>
              <a:rPr lang="en-US" b="1" dirty="0"/>
              <a:t> – </a:t>
            </a:r>
            <a:r>
              <a:rPr lang="en-US" dirty="0"/>
              <a:t>Automatically trains multiple machine learning pipelines for intrusion detection.</a:t>
            </a:r>
          </a:p>
          <a:p>
            <a:endParaRPr lang="en-US" dirty="0"/>
          </a:p>
          <a:p>
            <a:r>
              <a:rPr lang="en-US" b="1" dirty="0"/>
              <a:t>3) Data Asset – </a:t>
            </a:r>
            <a:r>
              <a:rPr lang="en-US" dirty="0"/>
              <a:t>Train_data.csv is uploaded as a data asset for model training.</a:t>
            </a:r>
          </a:p>
          <a:p>
            <a:endParaRPr lang="en-US" b="1" dirty="0"/>
          </a:p>
          <a:p>
            <a:r>
              <a:rPr lang="en-US" b="1" dirty="0"/>
              <a:t>4) Prediction Column – </a:t>
            </a:r>
            <a:r>
              <a:rPr lang="en-US" dirty="0"/>
              <a:t>The target column used is “class”, which predicts Normal or Anomaly.</a:t>
            </a:r>
          </a:p>
          <a:p>
            <a:endParaRPr lang="en-US" dirty="0"/>
          </a:p>
          <a:p>
            <a:r>
              <a:rPr lang="en-US" b="1" dirty="0"/>
              <a:t>5) Best ML Model – </a:t>
            </a:r>
            <a:r>
              <a:rPr lang="en-US" dirty="0"/>
              <a:t>Snap Decision Tree Classifier selected as the best-performing model.</a:t>
            </a:r>
          </a:p>
          <a:p>
            <a:endParaRPr lang="en-US" b="1" dirty="0"/>
          </a:p>
          <a:p>
            <a:r>
              <a:rPr lang="en-US" b="1" dirty="0"/>
              <a:t>6) IBM watsonx.ai Runtime – </a:t>
            </a:r>
            <a:r>
              <a:rPr lang="en-US" dirty="0"/>
              <a:t>Used to deploy the trained model as an online deployment.</a:t>
            </a:r>
          </a:p>
          <a:p>
            <a:endParaRPr lang="en-US" dirty="0"/>
          </a:p>
          <a:p>
            <a:r>
              <a:rPr lang="en-US" b="1" dirty="0"/>
              <a:t>7) Public API Endpoint – </a:t>
            </a:r>
            <a:r>
              <a:rPr lang="en-US" dirty="0"/>
              <a:t>Provides a secured endpoint to send test data and receive predictions.</a:t>
            </a:r>
          </a:p>
          <a:p>
            <a:endParaRPr lang="en-US" dirty="0"/>
          </a:p>
          <a:p>
            <a:r>
              <a:rPr lang="en-US" b="1" dirty="0"/>
              <a:t>8) </a:t>
            </a:r>
            <a:r>
              <a:rPr lang="en-US" b="1" dirty="0" err="1"/>
              <a:t>Streamlit</a:t>
            </a:r>
            <a:r>
              <a:rPr lang="en-US" b="1" dirty="0"/>
              <a:t> Frontend – </a:t>
            </a:r>
            <a:r>
              <a:rPr lang="en-US" dirty="0"/>
              <a:t>Allows users to upload test CSV files and view prediction output.</a:t>
            </a:r>
          </a:p>
          <a:p>
            <a:endParaRPr lang="en-US" dirty="0"/>
          </a:p>
          <a:p>
            <a:endParaRPr lang="en-US" dirty="0"/>
          </a:p>
          <a:p>
            <a:r>
              <a:rPr lang="en-US" dirty="0"/>
              <a:t>These components together complete the workflow</a:t>
            </a:r>
            <a:r>
              <a:rPr lang="en-US" b="1" dirty="0"/>
              <a:t>:</a:t>
            </a:r>
          </a:p>
          <a:p>
            <a:r>
              <a:rPr lang="en-US" b="1" dirty="0"/>
              <a:t> dataset upload → </a:t>
            </a:r>
            <a:r>
              <a:rPr lang="en-US" b="1" dirty="0" err="1"/>
              <a:t>AutoAI</a:t>
            </a:r>
            <a:r>
              <a:rPr lang="en-US" b="1" dirty="0"/>
              <a:t> training → model deployment → </a:t>
            </a:r>
            <a:r>
              <a:rPr lang="en-US" b="1" dirty="0" err="1"/>
              <a:t>Streamlit</a:t>
            </a:r>
            <a:r>
              <a:rPr lang="en-US" b="1" dirty="0"/>
              <a:t> prediction output</a:t>
            </a:r>
            <a:r>
              <a:rPr lang="en-US" dirty="0"/>
              <a:t>.</a:t>
            </a:r>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9697791" cy="448508"/>
          </a:xfrm>
          <a:prstGeom prst="rect">
            <a:avLst/>
          </a:prstGeom>
          <a:noFill/>
          <a:ln>
            <a:noFill/>
          </a:ln>
        </p:spPr>
        <p:txBody>
          <a:bodyPr spcFirstLastPara="1" wrap="square" lIns="0" tIns="0" rIns="0" bIns="0" anchor="t" anchorCtr="0">
            <a:noAutofit/>
          </a:bodyPr>
          <a:lstStyle/>
          <a:p>
            <a:pPr>
              <a:buClr>
                <a:srgbClr val="051D3A"/>
              </a:buClr>
              <a:buSzPts val="3500"/>
            </a:pPr>
            <a:r>
              <a:rPr lang="en-IN" sz="2400" b="1" dirty="0" err="1"/>
              <a:t>AutoAI</a:t>
            </a:r>
            <a:r>
              <a:rPr lang="en-IN" sz="2400" b="1" dirty="0"/>
              <a:t> Leaderboard &amp; IBM Online Deployment</a:t>
            </a:r>
            <a:endParaRPr lang="en-IN" sz="2400" b="1" dirty="0">
              <a:sym typeface="Times New Roman"/>
            </a:endParaRPr>
          </a:p>
          <a:p>
            <a:pPr lvl="0">
              <a:buClr>
                <a:srgbClr val="051D3A"/>
              </a:buClr>
              <a:buSzPts val="3500"/>
            </a:pPr>
            <a:endParaRPr sz="2400" b="1" dirty="0">
              <a:sym typeface="Times New Roman"/>
            </a:endParaRPr>
          </a:p>
        </p:txBody>
      </p:sp>
      <p:pic>
        <p:nvPicPr>
          <p:cNvPr id="5" name="Picture 4">
            <a:extLst>
              <a:ext uri="{FF2B5EF4-FFF2-40B4-BE49-F238E27FC236}">
                <a16:creationId xmlns:a16="http://schemas.microsoft.com/office/drawing/2014/main" id="{AC4C5076-C00C-4ED1-8BC5-ECC11D3B0DB3}"/>
              </a:ext>
            </a:extLst>
          </p:cNvPr>
          <p:cNvPicPr>
            <a:picLocks noChangeAspect="1"/>
          </p:cNvPicPr>
          <p:nvPr/>
        </p:nvPicPr>
        <p:blipFill>
          <a:blip r:embed="rId3"/>
          <a:srcRect t="11253" r="2178" b="4713"/>
          <a:stretch>
            <a:fillRect/>
          </a:stretch>
        </p:blipFill>
        <p:spPr>
          <a:xfrm>
            <a:off x="645607" y="771747"/>
            <a:ext cx="5836917" cy="2836406"/>
          </a:xfrm>
          <a:prstGeom prst="rect">
            <a:avLst/>
          </a:prstGeom>
        </p:spPr>
      </p:pic>
      <p:pic>
        <p:nvPicPr>
          <p:cNvPr id="7" name="Picture 6">
            <a:extLst>
              <a:ext uri="{FF2B5EF4-FFF2-40B4-BE49-F238E27FC236}">
                <a16:creationId xmlns:a16="http://schemas.microsoft.com/office/drawing/2014/main" id="{3A27F9D9-C211-44B5-9461-7B466FAE712A}"/>
              </a:ext>
            </a:extLst>
          </p:cNvPr>
          <p:cNvPicPr>
            <a:picLocks noChangeAspect="1"/>
          </p:cNvPicPr>
          <p:nvPr/>
        </p:nvPicPr>
        <p:blipFill>
          <a:blip r:embed="rId4"/>
          <a:srcRect t="16686" r="16389" b="27598"/>
          <a:stretch>
            <a:fillRect/>
          </a:stretch>
        </p:blipFill>
        <p:spPr>
          <a:xfrm>
            <a:off x="537590" y="3810382"/>
            <a:ext cx="6420463" cy="2880469"/>
          </a:xfrm>
          <a:prstGeom prst="rect">
            <a:avLst/>
          </a:prstGeom>
        </p:spPr>
      </p:pic>
      <p:sp>
        <p:nvSpPr>
          <p:cNvPr id="8" name="Google Shape;135;p5">
            <a:extLst>
              <a:ext uri="{FF2B5EF4-FFF2-40B4-BE49-F238E27FC236}">
                <a16:creationId xmlns:a16="http://schemas.microsoft.com/office/drawing/2014/main" id="{5E36B473-B979-32F7-CF20-F3C35B7447E2}"/>
              </a:ext>
            </a:extLst>
          </p:cNvPr>
          <p:cNvSpPr/>
          <p:nvPr/>
        </p:nvSpPr>
        <p:spPr>
          <a:xfrm>
            <a:off x="609602" y="4428206"/>
            <a:ext cx="5908929" cy="448508"/>
          </a:xfrm>
          <a:prstGeom prst="rect">
            <a:avLst/>
          </a:prstGeom>
          <a:noFill/>
          <a:ln>
            <a:noFill/>
          </a:ln>
        </p:spPr>
        <p:txBody>
          <a:bodyPr spcFirstLastPara="1" wrap="square" lIns="0" tIns="0" rIns="0" bIns="0" anchor="t" anchorCtr="0">
            <a:noAutofit/>
          </a:bodyPr>
          <a:lstStyle/>
          <a:p>
            <a:pPr lvl="0">
              <a:buClr>
                <a:srgbClr val="051D3A"/>
              </a:buClr>
              <a:buSzPts val="3500"/>
            </a:pPr>
            <a:endParaRPr sz="2400" b="1" dirty="0">
              <a:sym typeface="Times New Roman"/>
            </a:endParaRPr>
          </a:p>
        </p:txBody>
      </p:sp>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5" name="Picture 4">
            <a:extLst>
              <a:ext uri="{FF2B5EF4-FFF2-40B4-BE49-F238E27FC236}">
                <a16:creationId xmlns:a16="http://schemas.microsoft.com/office/drawing/2014/main" id="{3BF02A6D-3C23-FF9C-7890-F20B5D730F0A}"/>
              </a:ext>
            </a:extLst>
          </p:cNvPr>
          <p:cNvPicPr>
            <a:picLocks noChangeAspect="1"/>
          </p:cNvPicPr>
          <p:nvPr/>
        </p:nvPicPr>
        <p:blipFill>
          <a:blip r:embed="rId3"/>
          <a:stretch>
            <a:fillRect/>
          </a:stretch>
        </p:blipFill>
        <p:spPr>
          <a:xfrm>
            <a:off x="392061" y="108155"/>
            <a:ext cx="11544300" cy="661711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6FFDC5E-540E-C590-50F3-BA51685943A4}"/>
              </a:ext>
            </a:extLst>
          </p:cNvPr>
          <p:cNvSpPr>
            <a:spLocks noGrp="1"/>
          </p:cNvSpPr>
          <p:nvPr>
            <p:ph type="body" idx="1"/>
          </p:nvPr>
        </p:nvSpPr>
        <p:spPr>
          <a:xfrm>
            <a:off x="201215" y="135449"/>
            <a:ext cx="10515600" cy="1500187"/>
          </a:xfrm>
        </p:spPr>
        <p:txBody>
          <a:bodyPr/>
          <a:lstStyle/>
          <a:p>
            <a:r>
              <a:rPr lang="en-US" b="1" dirty="0">
                <a:solidFill>
                  <a:schemeClr val="tx1"/>
                </a:solidFill>
                <a:latin typeface="Arial" panose="020B0604020202020204" pitchFamily="34" charset="0"/>
                <a:cs typeface="Arial" panose="020B0604020202020204" pitchFamily="34" charset="0"/>
              </a:rPr>
              <a:t>Test dataset &amp; Prediction Results:</a:t>
            </a:r>
            <a:endParaRPr lang="en-IN" b="1" dirty="0">
              <a:solidFill>
                <a:schemeClr val="tx1"/>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6C23843-A140-936B-90DF-24D0A5D1EF64}"/>
              </a:ext>
            </a:extLst>
          </p:cNvPr>
          <p:cNvPicPr>
            <a:picLocks noChangeAspect="1"/>
          </p:cNvPicPr>
          <p:nvPr/>
        </p:nvPicPr>
        <p:blipFill>
          <a:blip r:embed="rId2"/>
          <a:stretch>
            <a:fillRect/>
          </a:stretch>
        </p:blipFill>
        <p:spPr>
          <a:xfrm>
            <a:off x="2882962" y="3765656"/>
            <a:ext cx="6408521" cy="2998667"/>
          </a:xfrm>
          <a:prstGeom prst="rect">
            <a:avLst/>
          </a:prstGeom>
        </p:spPr>
      </p:pic>
      <p:pic>
        <p:nvPicPr>
          <p:cNvPr id="7" name="Picture 6">
            <a:extLst>
              <a:ext uri="{FF2B5EF4-FFF2-40B4-BE49-F238E27FC236}">
                <a16:creationId xmlns:a16="http://schemas.microsoft.com/office/drawing/2014/main" id="{576FC934-2613-CC85-0A07-F1DF2D79423F}"/>
              </a:ext>
            </a:extLst>
          </p:cNvPr>
          <p:cNvPicPr>
            <a:picLocks noChangeAspect="1"/>
          </p:cNvPicPr>
          <p:nvPr/>
        </p:nvPicPr>
        <p:blipFill>
          <a:blip r:embed="rId3"/>
          <a:stretch>
            <a:fillRect/>
          </a:stretch>
        </p:blipFill>
        <p:spPr>
          <a:xfrm>
            <a:off x="2882963" y="651543"/>
            <a:ext cx="6313330" cy="2998667"/>
          </a:xfrm>
          <a:prstGeom prst="rect">
            <a:avLst/>
          </a:prstGeom>
        </p:spPr>
      </p:pic>
    </p:spTree>
    <p:extLst>
      <p:ext uri="{BB962C8B-B14F-4D97-AF65-F5344CB8AC3E}">
        <p14:creationId xmlns:p14="http://schemas.microsoft.com/office/powerpoint/2010/main" val="39663611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Machine Learning in the Solution</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6919550" cy="5262979"/>
          </a:xfrm>
          <a:prstGeom prst="rect">
            <a:avLst/>
          </a:prstGeom>
          <a:noFill/>
        </p:spPr>
        <p:txBody>
          <a:bodyPr wrap="square" rtlCol="0">
            <a:spAutoFit/>
          </a:bodyPr>
          <a:lstStyle/>
          <a:p>
            <a:pPr algn="just"/>
            <a:r>
              <a:rPr lang="en-US" b="1" dirty="0"/>
              <a:t>Role of Machine Learning in </a:t>
            </a:r>
            <a:r>
              <a:rPr lang="en-US" b="1" dirty="0" err="1"/>
              <a:t>CyberShield</a:t>
            </a:r>
            <a:r>
              <a:rPr lang="en-US" b="1" dirty="0"/>
              <a:t> AI</a:t>
            </a:r>
          </a:p>
          <a:p>
            <a:pPr algn="just"/>
            <a:endParaRPr lang="en-US" b="1" dirty="0"/>
          </a:p>
          <a:p>
            <a:pPr algn="just"/>
            <a:r>
              <a:rPr lang="en-US" dirty="0"/>
              <a:t>Machine Learning plays the main role in </a:t>
            </a:r>
            <a:r>
              <a:rPr lang="en-US" b="1" dirty="0" err="1"/>
              <a:t>CyberShield</a:t>
            </a:r>
            <a:r>
              <a:rPr lang="en-US" b="1" dirty="0"/>
              <a:t> AI </a:t>
            </a:r>
            <a:r>
              <a:rPr lang="en-US" dirty="0"/>
              <a:t>by automatically analyzing network traffic data and identifying whether the activity is normal or malicious.</a:t>
            </a:r>
          </a:p>
          <a:p>
            <a:pPr algn="just"/>
            <a:endParaRPr lang="en-US" dirty="0"/>
          </a:p>
          <a:p>
            <a:pPr algn="just"/>
            <a:r>
              <a:rPr lang="en-US" dirty="0"/>
              <a:t>The system uses </a:t>
            </a:r>
            <a:r>
              <a:rPr lang="en-US" b="1" dirty="0"/>
              <a:t>IBM watsonx.ai </a:t>
            </a:r>
            <a:r>
              <a:rPr lang="en-US" b="1" dirty="0" err="1"/>
              <a:t>AutoAI</a:t>
            </a:r>
            <a:r>
              <a:rPr lang="en-US" b="1" dirty="0"/>
              <a:t> </a:t>
            </a:r>
            <a:r>
              <a:rPr lang="en-US" dirty="0"/>
              <a:t>to train classification models on the Network Intrusion Detection dataset. The dataset contains features such as protocol type, service, flag, source bytes, destination bytes, and other connection-related attributes.</a:t>
            </a:r>
          </a:p>
          <a:p>
            <a:pPr algn="just"/>
            <a:endParaRPr lang="en-US" dirty="0"/>
          </a:p>
          <a:p>
            <a:pPr algn="just"/>
            <a:r>
              <a:rPr lang="en-US" b="1" dirty="0" err="1"/>
              <a:t>AutoAI</a:t>
            </a:r>
            <a:r>
              <a:rPr lang="en-US" b="1" dirty="0"/>
              <a:t> </a:t>
            </a:r>
            <a:r>
              <a:rPr lang="en-US" dirty="0"/>
              <a:t>generates multiple machine learning pipelines and selects the best-performing model based on accuracy. In this project, the best model was a </a:t>
            </a:r>
            <a:r>
              <a:rPr lang="en-US" b="1" dirty="0"/>
              <a:t>Snap Decision Tree Classifier with high accuracy</a:t>
            </a:r>
            <a:r>
              <a:rPr lang="en-US" dirty="0"/>
              <a:t>.</a:t>
            </a:r>
          </a:p>
          <a:p>
            <a:pPr algn="just"/>
            <a:endParaRPr lang="en-US" dirty="0"/>
          </a:p>
          <a:p>
            <a:pPr algn="just"/>
            <a:r>
              <a:rPr lang="en-US" dirty="0"/>
              <a:t>The trained model is deployed using IBM watsonx.ai Runtime as an online deployment. A </a:t>
            </a:r>
            <a:r>
              <a:rPr lang="en-US" b="1" dirty="0" err="1"/>
              <a:t>Streamlit</a:t>
            </a:r>
            <a:r>
              <a:rPr lang="en-US" b="1" dirty="0"/>
              <a:t> frontend </a:t>
            </a:r>
            <a:r>
              <a:rPr lang="en-US" dirty="0"/>
              <a:t>is connected to the deployed model through the </a:t>
            </a:r>
            <a:r>
              <a:rPr lang="en-US" b="1" dirty="0"/>
              <a:t>IBM API endpoint</a:t>
            </a:r>
            <a:r>
              <a:rPr lang="en-US" dirty="0"/>
              <a:t>.</a:t>
            </a:r>
          </a:p>
          <a:p>
            <a:pPr algn="just"/>
            <a:endParaRPr lang="en-US" dirty="0"/>
          </a:p>
          <a:p>
            <a:pPr algn="just"/>
            <a:r>
              <a:rPr lang="en-US" dirty="0"/>
              <a:t>When a user uploads test network traffic data, the model predicts whether each record is </a:t>
            </a:r>
            <a:r>
              <a:rPr lang="en-US" b="1" dirty="0"/>
              <a:t>Normal or Anomaly</a:t>
            </a:r>
            <a:r>
              <a:rPr lang="en-US" dirty="0"/>
              <a:t>. This helps in early detection of suspicious network activity and supports cybersecurity monitoring.</a:t>
            </a:r>
          </a:p>
          <a:p>
            <a:pPr algn="just"/>
            <a:endParaRPr lang="en-US" dirty="0"/>
          </a:p>
          <a:p>
            <a:pPr algn="just"/>
            <a:r>
              <a:rPr lang="en-US" dirty="0"/>
              <a:t>Overall, Machine Learning makes the system </a:t>
            </a:r>
            <a:r>
              <a:rPr lang="en-US" b="1" dirty="0"/>
              <a:t>intelligent, automated, and useful for detecting network intrusions efficiently</a:t>
            </a:r>
            <a:r>
              <a:rPr lang="en-US" dirty="0"/>
              <a:t>.</a:t>
            </a:r>
          </a:p>
        </p:txBody>
      </p:sp>
      <p:pic>
        <p:nvPicPr>
          <p:cNvPr id="1030" name="Picture 6" descr="Cyber Security Internet - Free photo on Pixabay">
            <a:extLst>
              <a:ext uri="{FF2B5EF4-FFF2-40B4-BE49-F238E27FC236}">
                <a16:creationId xmlns:a16="http://schemas.microsoft.com/office/drawing/2014/main" id="{C618D5BE-89D4-1D67-8CE2-8687BF653F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4708" y="1167493"/>
            <a:ext cx="4277032" cy="321174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IBM Cloud Resource Usage</a:t>
            </a:r>
            <a:endParaRPr sz="2400" b="1" dirty="0">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742502" y="1170719"/>
            <a:ext cx="9620698"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IBM watsonx.ai </a:t>
            </a:r>
            <a:r>
              <a:rPr lang="en-US" dirty="0" err="1"/>
              <a:t>AutoAI</a:t>
            </a:r>
            <a:r>
              <a:rPr lang="en-US" dirty="0"/>
              <a:t> was used to train and deploy the ML model. I have used 8377 tokens for completing this project. </a:t>
            </a:r>
          </a:p>
        </p:txBody>
      </p:sp>
      <p:pic>
        <p:nvPicPr>
          <p:cNvPr id="3" name="Picture 2">
            <a:extLst>
              <a:ext uri="{FF2B5EF4-FFF2-40B4-BE49-F238E27FC236}">
                <a16:creationId xmlns:a16="http://schemas.microsoft.com/office/drawing/2014/main" id="{C35C4A6A-906F-6BCB-5473-F2E6D87CC27B}"/>
              </a:ext>
            </a:extLst>
          </p:cNvPr>
          <p:cNvPicPr>
            <a:picLocks noChangeAspect="1"/>
          </p:cNvPicPr>
          <p:nvPr/>
        </p:nvPicPr>
        <p:blipFill>
          <a:blip r:embed="rId3"/>
          <a:stretch>
            <a:fillRect/>
          </a:stretch>
        </p:blipFill>
        <p:spPr>
          <a:xfrm>
            <a:off x="857269" y="1603638"/>
            <a:ext cx="9877407" cy="4732063"/>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445008" y="189664"/>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445008" y="794054"/>
            <a:ext cx="11746992" cy="6001643"/>
          </a:xfrm>
          <a:prstGeom prst="rect">
            <a:avLst/>
          </a:prstGeom>
          <a:noFill/>
        </p:spPr>
        <p:txBody>
          <a:bodyPr wrap="square" rtlCol="0">
            <a:spAutoFit/>
          </a:bodyPr>
          <a:lstStyle/>
          <a:p>
            <a:r>
              <a:rPr lang="en-IN" sz="1600" dirty="0"/>
              <a:t>The proposed </a:t>
            </a:r>
            <a:r>
              <a:rPr lang="en-IN" sz="1600" dirty="0" err="1"/>
              <a:t>CyberShield</a:t>
            </a:r>
            <a:r>
              <a:rPr lang="en-IN" sz="1600" dirty="0"/>
              <a:t> AI system stands out by combining Machine Learning, IBM watsonx.ai </a:t>
            </a:r>
            <a:r>
              <a:rPr lang="en-IN" sz="1600" dirty="0" err="1"/>
              <a:t>AutoAI</a:t>
            </a:r>
            <a:r>
              <a:rPr lang="en-IN" sz="1600" dirty="0"/>
              <a:t>, cloud deployment, and a </a:t>
            </a:r>
            <a:r>
              <a:rPr lang="en-IN" sz="1600" dirty="0" err="1"/>
              <a:t>Streamlit</a:t>
            </a:r>
            <a:r>
              <a:rPr lang="en-IN" sz="1600" dirty="0"/>
              <a:t> frontend into a complete network intrusion detection solution.</a:t>
            </a:r>
            <a:br>
              <a:rPr lang="en-IN" sz="1600" dirty="0"/>
            </a:br>
            <a:br>
              <a:rPr lang="en-IN" sz="1600" dirty="0"/>
            </a:br>
            <a:r>
              <a:rPr lang="en-IN" sz="1600" b="1" dirty="0"/>
              <a:t>ML-Based Intrusion Detection </a:t>
            </a:r>
            <a:r>
              <a:rPr lang="en-IN" sz="1600" dirty="0"/>
              <a:t>– Uses machine learning to automatically classify network traffic as normal or anomaly.</a:t>
            </a:r>
            <a:br>
              <a:rPr lang="en-IN" sz="1600" dirty="0"/>
            </a:br>
            <a:br>
              <a:rPr lang="en-IN" sz="1600" dirty="0"/>
            </a:br>
            <a:r>
              <a:rPr lang="en-IN" sz="1600" b="1" dirty="0"/>
              <a:t>IBM </a:t>
            </a:r>
            <a:r>
              <a:rPr lang="en-IN" sz="1600" b="1" dirty="0" err="1"/>
              <a:t>AutoAI</a:t>
            </a:r>
            <a:r>
              <a:rPr lang="en-IN" sz="1600" b="1" dirty="0"/>
              <a:t> Automation – </a:t>
            </a:r>
            <a:r>
              <a:rPr lang="en-IN" sz="1600" dirty="0"/>
              <a:t>IBM watsonx.ai </a:t>
            </a:r>
            <a:r>
              <a:rPr lang="en-IN" sz="1600" dirty="0" err="1"/>
              <a:t>AutoAI</a:t>
            </a:r>
            <a:r>
              <a:rPr lang="en-IN" sz="1600" dirty="0"/>
              <a:t> generates multiple ML pipelines and selects the best-performing model automatically.</a:t>
            </a:r>
            <a:br>
              <a:rPr lang="en-IN" sz="1600" dirty="0"/>
            </a:br>
            <a:br>
              <a:rPr lang="en-IN" sz="1600" dirty="0"/>
            </a:br>
            <a:r>
              <a:rPr lang="en-IN" sz="1600" b="1" dirty="0"/>
              <a:t>High Accuracy Model </a:t>
            </a:r>
            <a:r>
              <a:rPr lang="en-IN" sz="1600" dirty="0"/>
              <a:t>– The best pipeline achieved 0.995 accuracy using a Snap Decision Tree Classifier.</a:t>
            </a:r>
            <a:br>
              <a:rPr lang="en-IN" sz="1600" dirty="0"/>
            </a:br>
            <a:br>
              <a:rPr lang="en-IN" sz="1600" dirty="0"/>
            </a:br>
            <a:r>
              <a:rPr lang="en-IN" sz="1600" b="1" dirty="0"/>
              <a:t>Cloud-Based Deployment – </a:t>
            </a:r>
            <a:r>
              <a:rPr lang="en-IN" sz="1600" dirty="0"/>
              <a:t>The trained model is deployed online using IBM watsonx.ai Runtime, making it accessible through an API endpoint.</a:t>
            </a:r>
            <a:br>
              <a:rPr lang="en-IN" sz="1600" dirty="0"/>
            </a:br>
            <a:br>
              <a:rPr lang="en-IN" sz="1600" dirty="0"/>
            </a:br>
            <a:r>
              <a:rPr lang="en-IN" sz="1600" b="1" dirty="0"/>
              <a:t>Frontend Integration – </a:t>
            </a:r>
            <a:r>
              <a:rPr lang="en-IN" sz="1600" dirty="0"/>
              <a:t>A </a:t>
            </a:r>
            <a:r>
              <a:rPr lang="en-IN" sz="1600" dirty="0" err="1"/>
              <a:t>Streamlit</a:t>
            </a:r>
            <a:r>
              <a:rPr lang="en-IN" sz="1600" dirty="0"/>
              <a:t> web app allows users to upload test CSV files and receive prediction results.</a:t>
            </a:r>
            <a:br>
              <a:rPr lang="en-IN" sz="1600" dirty="0"/>
            </a:br>
            <a:br>
              <a:rPr lang="en-IN" sz="1600" dirty="0"/>
            </a:br>
            <a:r>
              <a:rPr lang="en-IN" sz="1600" b="1" dirty="0"/>
              <a:t>Real-Time Prediction Support – </a:t>
            </a:r>
            <a:r>
              <a:rPr lang="en-IN" sz="1600" dirty="0"/>
              <a:t>The deployed model can classify new network traffic records through the online deployment link.</a:t>
            </a:r>
            <a:br>
              <a:rPr lang="en-IN" sz="1600" dirty="0"/>
            </a:br>
            <a:br>
              <a:rPr lang="en-IN" sz="1600" dirty="0"/>
            </a:br>
            <a:r>
              <a:rPr lang="en-IN" sz="1600" b="1" dirty="0"/>
              <a:t>Cybersecurity Relevance – </a:t>
            </a:r>
            <a:r>
              <a:rPr lang="en-IN" sz="1600" dirty="0"/>
              <a:t>The project focuses on detecting suspicious network activity, which is highly useful in modern communication networks.</a:t>
            </a:r>
            <a:br>
              <a:rPr lang="en-IN" sz="1600" dirty="0"/>
            </a:br>
            <a:br>
              <a:rPr lang="en-IN" sz="1600" b="1" dirty="0"/>
            </a:br>
            <a:r>
              <a:rPr lang="en-IN" sz="1600" b="1" dirty="0"/>
              <a:t>End-to-End Project – </a:t>
            </a:r>
            <a:r>
              <a:rPr lang="en-IN" sz="1600" dirty="0"/>
              <a:t>It includes dataset processing, model training, deployment, frontend integration, and prediction output.</a:t>
            </a:r>
            <a:br>
              <a:rPr lang="en-IN" sz="1600" dirty="0"/>
            </a:br>
            <a:br>
              <a:rPr lang="en-IN" sz="1600" dirty="0"/>
            </a:br>
            <a:r>
              <a:rPr lang="en-IN" sz="1600" dirty="0"/>
              <a:t>This makes </a:t>
            </a:r>
            <a:r>
              <a:rPr lang="en-IN" sz="1600" b="1" dirty="0" err="1"/>
              <a:t>CyberShield</a:t>
            </a:r>
            <a:r>
              <a:rPr lang="en-IN" sz="1600" b="1" dirty="0"/>
              <a:t> AI a practical, automated,</a:t>
            </a:r>
            <a:r>
              <a:rPr lang="en-IN" sz="1600" dirty="0"/>
              <a:t> and resume-worthy ML-based cybersecurity project.</a:t>
            </a:r>
          </a:p>
        </p:txBody>
      </p:sp>
    </p:spTree>
    <p:extLst>
      <p:ext uri="{BB962C8B-B14F-4D97-AF65-F5344CB8AC3E}">
        <p14:creationId xmlns:p14="http://schemas.microsoft.com/office/powerpoint/2010/main" val="917964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913924" y="66671"/>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913923" y="691596"/>
            <a:ext cx="10619315" cy="591568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600" dirty="0">
                <a:solidFill>
                  <a:srgbClr val="2B3541"/>
                </a:solidFill>
                <a:latin typeface="Times New Roman"/>
                <a:ea typeface="Times New Roman"/>
                <a:cs typeface="Times New Roman"/>
                <a:sym typeface="Times New Roman"/>
              </a:rPr>
              <a:t>GitHub Link</a:t>
            </a:r>
          </a:p>
          <a:p>
            <a:pPr lvl="0">
              <a:lnSpc>
                <a:spcPct val="162162"/>
              </a:lnSpc>
              <a:buClr>
                <a:srgbClr val="2B3541"/>
              </a:buClr>
              <a:buSzPts val="1850"/>
            </a:pPr>
            <a:r>
              <a:rPr lang="en-US" sz="1600" dirty="0">
                <a:solidFill>
                  <a:srgbClr val="2B3541"/>
                </a:solidFill>
                <a:latin typeface="Times New Roman"/>
                <a:ea typeface="Times New Roman"/>
                <a:cs typeface="Times New Roman"/>
                <a:sym typeface="Times New Roman"/>
              </a:rPr>
              <a:t>Public GitHub Repository: </a:t>
            </a:r>
            <a:r>
              <a:rPr lang="en-US" sz="1600" dirty="0">
                <a:solidFill>
                  <a:srgbClr val="2B3541"/>
                </a:solidFill>
                <a:latin typeface="Times New Roman"/>
                <a:ea typeface="Times New Roman"/>
                <a:cs typeface="Times New Roman"/>
                <a:sym typeface="Times New Roman"/>
                <a:hlinkClick r:id="rId3"/>
              </a:rPr>
              <a:t>https://github.com/lucia-builds/cybershield-ai-network-intrusion-detection.git</a:t>
            </a:r>
            <a:endParaRPr lang="en-US" sz="160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sz="1600" dirty="0">
                <a:solidFill>
                  <a:srgbClr val="2B3541"/>
                </a:solidFill>
                <a:latin typeface="Times New Roman"/>
                <a:ea typeface="Times New Roman"/>
                <a:cs typeface="Times New Roman"/>
                <a:sym typeface="Times New Roman"/>
              </a:rPr>
              <a:t>Repository contains:</a:t>
            </a:r>
          </a:p>
          <a:p>
            <a:pPr lvl="0">
              <a:lnSpc>
                <a:spcPct val="162162"/>
              </a:lnSpc>
              <a:buClr>
                <a:srgbClr val="2B3541"/>
              </a:buClr>
              <a:buSzPts val="1850"/>
            </a:pPr>
            <a:r>
              <a:rPr lang="en-US" sz="1600" dirty="0">
                <a:solidFill>
                  <a:srgbClr val="2B3541"/>
                </a:solidFill>
                <a:latin typeface="Times New Roman"/>
                <a:ea typeface="Times New Roman"/>
                <a:cs typeface="Times New Roman"/>
                <a:sym typeface="Times New Roman"/>
              </a:rPr>
              <a:t>1. </a:t>
            </a:r>
            <a:r>
              <a:rPr lang="en-US" sz="1600" dirty="0" err="1">
                <a:solidFill>
                  <a:srgbClr val="2B3541"/>
                </a:solidFill>
                <a:latin typeface="Times New Roman"/>
                <a:ea typeface="Times New Roman"/>
                <a:cs typeface="Times New Roman"/>
                <a:sym typeface="Times New Roman"/>
              </a:rPr>
              <a:t>app.json</a:t>
            </a:r>
            <a:endParaRPr lang="en-US" sz="160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sz="1600" dirty="0">
                <a:solidFill>
                  <a:srgbClr val="2B3541"/>
                </a:solidFill>
                <a:latin typeface="Times New Roman"/>
                <a:ea typeface="Times New Roman"/>
                <a:cs typeface="Times New Roman"/>
                <a:sym typeface="Times New Roman"/>
              </a:rPr>
              <a:t>2. problemstatement.pdf</a:t>
            </a:r>
          </a:p>
          <a:p>
            <a:pPr lvl="0">
              <a:lnSpc>
                <a:spcPct val="162162"/>
              </a:lnSpc>
              <a:buClr>
                <a:srgbClr val="2B3541"/>
              </a:buClr>
              <a:buSzPts val="1850"/>
            </a:pPr>
            <a:r>
              <a:rPr lang="en-US" sz="1600" dirty="0">
                <a:solidFill>
                  <a:srgbClr val="2B3541"/>
                </a:solidFill>
                <a:latin typeface="Times New Roman"/>
                <a:ea typeface="Times New Roman"/>
                <a:cs typeface="Times New Roman"/>
                <a:sym typeface="Times New Roman"/>
              </a:rPr>
              <a:t>3. projectpresentation.pptx</a:t>
            </a:r>
          </a:p>
          <a:p>
            <a:pPr lvl="0">
              <a:lnSpc>
                <a:spcPct val="162162"/>
              </a:lnSpc>
              <a:buClr>
                <a:srgbClr val="2B3541"/>
              </a:buClr>
              <a:buSzPts val="1850"/>
            </a:pPr>
            <a:r>
              <a:rPr lang="en-US" sz="1600" dirty="0">
                <a:solidFill>
                  <a:srgbClr val="2B3541"/>
                </a:solidFill>
                <a:latin typeface="Times New Roman"/>
                <a:ea typeface="Times New Roman"/>
                <a:cs typeface="Times New Roman"/>
                <a:sym typeface="Times New Roman"/>
              </a:rPr>
              <a:t>4. app.py</a:t>
            </a:r>
          </a:p>
          <a:p>
            <a:pPr lvl="0">
              <a:lnSpc>
                <a:spcPct val="162162"/>
              </a:lnSpc>
              <a:buClr>
                <a:srgbClr val="2B3541"/>
              </a:buClr>
              <a:buSzPts val="1850"/>
            </a:pPr>
            <a:r>
              <a:rPr lang="en-US" sz="1600" dirty="0">
                <a:solidFill>
                  <a:srgbClr val="2B3541"/>
                </a:solidFill>
                <a:latin typeface="Times New Roman"/>
                <a:ea typeface="Times New Roman"/>
                <a:cs typeface="Times New Roman"/>
                <a:sym typeface="Times New Roman"/>
              </a:rPr>
              <a:t>5. requirements.txt</a:t>
            </a:r>
          </a:p>
          <a:p>
            <a:pPr lvl="0">
              <a:lnSpc>
                <a:spcPct val="162162"/>
              </a:lnSpc>
              <a:buClr>
                <a:srgbClr val="2B3541"/>
              </a:buClr>
              <a:buSzPts val="1850"/>
            </a:pPr>
            <a:r>
              <a:rPr lang="en-US" sz="1600" dirty="0">
                <a:solidFill>
                  <a:srgbClr val="2B3541"/>
                </a:solidFill>
                <a:latin typeface="Times New Roman"/>
                <a:ea typeface="Times New Roman"/>
                <a:cs typeface="Times New Roman"/>
                <a:sym typeface="Times New Roman"/>
              </a:rPr>
              <a:t>6. README.md</a:t>
            </a:r>
          </a:p>
          <a:p>
            <a:pPr lvl="0">
              <a:lnSpc>
                <a:spcPct val="162162"/>
              </a:lnSpc>
              <a:buClr>
                <a:srgbClr val="2B3541"/>
              </a:buClr>
              <a:buSzPts val="1850"/>
            </a:pPr>
            <a:r>
              <a:rPr lang="en-US" sz="1600" dirty="0">
                <a:solidFill>
                  <a:srgbClr val="2B3541"/>
                </a:solidFill>
                <a:latin typeface="Times New Roman"/>
                <a:ea typeface="Times New Roman"/>
                <a:cs typeface="Times New Roman"/>
                <a:sym typeface="Times New Roman"/>
              </a:rPr>
              <a:t>7. .</a:t>
            </a:r>
            <a:r>
              <a:rPr lang="en-US" sz="1600" dirty="0" err="1">
                <a:solidFill>
                  <a:srgbClr val="2B3541"/>
                </a:solidFill>
                <a:latin typeface="Times New Roman"/>
                <a:ea typeface="Times New Roman"/>
                <a:cs typeface="Times New Roman"/>
                <a:sym typeface="Times New Roman"/>
              </a:rPr>
              <a:t>gitignore</a:t>
            </a:r>
            <a:endParaRPr lang="en-US" sz="160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sz="1600" dirty="0" err="1">
                <a:solidFill>
                  <a:srgbClr val="2B3541"/>
                </a:solidFill>
                <a:latin typeface="Times New Roman"/>
                <a:ea typeface="Times New Roman"/>
                <a:cs typeface="Times New Roman"/>
                <a:sym typeface="Times New Roman"/>
              </a:rPr>
              <a:t>Deployement</a:t>
            </a:r>
            <a:r>
              <a:rPr lang="en-US" sz="1600" dirty="0">
                <a:solidFill>
                  <a:srgbClr val="2B3541"/>
                </a:solidFill>
                <a:latin typeface="Times New Roman"/>
                <a:ea typeface="Times New Roman"/>
                <a:cs typeface="Times New Roman"/>
                <a:sym typeface="Times New Roman"/>
              </a:rPr>
              <a:t>: </a:t>
            </a:r>
          </a:p>
          <a:p>
            <a:pPr lvl="0">
              <a:lnSpc>
                <a:spcPct val="162162"/>
              </a:lnSpc>
              <a:buClr>
                <a:srgbClr val="2B3541"/>
              </a:buClr>
              <a:buSzPts val="1850"/>
            </a:pPr>
            <a:r>
              <a:rPr lang="en-US" sz="1600" dirty="0">
                <a:solidFill>
                  <a:srgbClr val="2B3541"/>
                </a:solidFill>
                <a:latin typeface="Times New Roman"/>
                <a:ea typeface="Times New Roman"/>
                <a:cs typeface="Times New Roman"/>
                <a:sym typeface="Times New Roman"/>
              </a:rPr>
              <a:t>Public Endpoint: https://au-syd.ml.cloud.ibm.com/ml/v4/deployments/cybershield_ai/predictions?version=2021-05-01</a:t>
            </a:r>
          </a:p>
          <a:p>
            <a:pPr lvl="0">
              <a:lnSpc>
                <a:spcPct val="162162"/>
              </a:lnSpc>
              <a:buClr>
                <a:srgbClr val="2B3541"/>
              </a:buClr>
              <a:buSzPts val="1850"/>
            </a:pPr>
            <a:r>
              <a:rPr lang="en-US" sz="1600" dirty="0">
                <a:solidFill>
                  <a:srgbClr val="2B3541"/>
                </a:solidFill>
                <a:latin typeface="Times New Roman"/>
                <a:ea typeface="Times New Roman"/>
                <a:cs typeface="Times New Roman"/>
                <a:sym typeface="Times New Roman"/>
              </a:rPr>
              <a:t>Note: The .env file is not uploaded because it contains the IBM API key.</a:t>
            </a:r>
          </a:p>
          <a:p>
            <a:pPr lvl="0">
              <a:lnSpc>
                <a:spcPct val="162162"/>
              </a:lnSpc>
              <a:buClr>
                <a:srgbClr val="2B3541"/>
              </a:buClr>
              <a:buSzPts val="1850"/>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913923" y="22108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913923" y="925097"/>
            <a:ext cx="10776631" cy="5636285"/>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IN" sz="1600" b="1" dirty="0"/>
              <a:t>1. Real-Time Network Traffic Monitoring –</a:t>
            </a:r>
            <a:br>
              <a:rPr lang="en-IN" sz="1600" dirty="0"/>
            </a:br>
            <a:r>
              <a:rPr lang="en-IN" sz="1600" dirty="0"/>
              <a:t>The system can be enhanced to </a:t>
            </a:r>
            <a:r>
              <a:rPr lang="en-IN" sz="1600" dirty="0" err="1"/>
              <a:t>analyze</a:t>
            </a:r>
            <a:r>
              <a:rPr lang="en-IN" sz="1600" dirty="0"/>
              <a:t> live network packets in real time instead of using only uploaded CSV files. This will help detect suspicious activities instantly.</a:t>
            </a:r>
            <a:br>
              <a:rPr lang="en-IN" sz="1600" dirty="0"/>
            </a:br>
            <a:r>
              <a:rPr lang="en-IN" sz="1600" b="1" dirty="0"/>
              <a:t>2. Multi-Class Attack Classification –</a:t>
            </a:r>
            <a:br>
              <a:rPr lang="en-IN" sz="1600" dirty="0"/>
            </a:br>
            <a:r>
              <a:rPr lang="en-IN" sz="1600" dirty="0"/>
              <a:t>Currently, the model predicts traffic as normal or anomaly. In the future, it can be improved to classify specific attack types such as DoS, Probe, R2L, and U2R.</a:t>
            </a:r>
            <a:br>
              <a:rPr lang="en-IN" sz="1600" dirty="0"/>
            </a:br>
            <a:r>
              <a:rPr lang="en-IN" sz="1600" b="1" dirty="0"/>
              <a:t>3. Alert and Notification System –</a:t>
            </a:r>
            <a:br>
              <a:rPr lang="en-IN" sz="1600" dirty="0"/>
            </a:br>
            <a:r>
              <a:rPr lang="en-IN" sz="1600" dirty="0"/>
              <a:t>The system can be integrated with email, SMS, or dashboard alerts to notify administrators when malicious network activity is detected.</a:t>
            </a:r>
            <a:br>
              <a:rPr lang="en-IN" sz="1600" dirty="0"/>
            </a:br>
            <a:r>
              <a:rPr lang="en-IN" sz="1600" b="1" dirty="0"/>
              <a:t>4. Advanced Deep Learning Models –</a:t>
            </a:r>
            <a:br>
              <a:rPr lang="en-IN" sz="1600" dirty="0"/>
            </a:br>
            <a:r>
              <a:rPr lang="en-IN" sz="1600" dirty="0"/>
              <a:t>Future versions can use deep learning models such as CNN, LSTM, or hybrid models to improve detection accuracy for complex cyber-attacks.</a:t>
            </a:r>
            <a:br>
              <a:rPr lang="en-IN" sz="1600" dirty="0"/>
            </a:br>
            <a:r>
              <a:rPr lang="en-IN" sz="1600" b="1" dirty="0"/>
              <a:t>5. Security Dashboard –</a:t>
            </a:r>
            <a:br>
              <a:rPr lang="en-IN" sz="1600" dirty="0"/>
            </a:br>
            <a:r>
              <a:rPr lang="en-IN" sz="1600" dirty="0"/>
              <a:t>A detailed dashboard can be added to show attack trends, risk levels, prediction history, and network security reports.</a:t>
            </a:r>
            <a:endParaRPr sz="160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1485</TotalTime>
  <Words>1625</Words>
  <Application>Microsoft Office PowerPoint</Application>
  <PresentationFormat>Widescreen</PresentationFormat>
  <Paragraphs>115</Paragraphs>
  <Slides>15</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Anwesha Sural</cp:lastModifiedBy>
  <cp:revision>43</cp:revision>
  <dcterms:created xsi:type="dcterms:W3CDTF">2025-07-08T05:06:56Z</dcterms:created>
  <dcterms:modified xsi:type="dcterms:W3CDTF">2026-06-13T20:18:16Z</dcterms:modified>
</cp:coreProperties>
</file>