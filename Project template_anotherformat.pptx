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0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7" r:id="rId12"/>
    <p:sldId id="2146847059" r:id="rId13"/>
    <p:sldId id="2146847058" r:id="rId14"/>
    <p:sldId id="268" r:id="rId15"/>
    <p:sldId id="2146847055" r:id="rId16"/>
    <p:sldId id="269" r:id="rId17"/>
    <p:sldId id="2146847056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86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6/27/2026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6/27/2026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6/27/2026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6/27/2026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6/27/2026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6/27/2026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ucia-builds/cybershield-ai-network-intrusion-detection.git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300" y="1925678"/>
            <a:ext cx="9144000" cy="977778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 err="1"/>
              <a:t>CyberShield</a:t>
            </a:r>
            <a:r>
              <a:rPr lang="en-IN" sz="2400" b="1" dirty="0"/>
              <a:t> AI</a:t>
            </a:r>
            <a:br>
              <a:rPr lang="en-IN" sz="2400" b="1" dirty="0"/>
            </a:br>
            <a:r>
              <a:rPr lang="en-IN" sz="2400" b="1" dirty="0"/>
              <a:t>Machine Learning-Based Network Intrusion Detection System</a:t>
            </a:r>
            <a:br>
              <a:rPr lang="en-IN" sz="2400" b="1" dirty="0"/>
            </a:br>
            <a:endParaRPr lang="en-US" sz="2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267324" y="635772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8073" y="3608587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Student Name-</a:t>
            </a:r>
            <a:r>
              <a:rPr lang="en-IN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Anwesha Sural</a:t>
            </a:r>
            <a:endParaRPr 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College Name-</a:t>
            </a:r>
            <a:r>
              <a:rPr lang="en-IN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Netaji Subhash Engineering College</a:t>
            </a:r>
            <a:endParaRPr 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</a:t>
            </a:r>
            <a:r>
              <a:rPr lang="en-IN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 Science and Engineering</a:t>
            </a:r>
            <a:endParaRPr 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  </a:t>
            </a:r>
            <a:r>
              <a:rPr lang="en-US" sz="2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aicte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id: 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STU67684b82678951734888322</a:t>
            </a:r>
            <a:endParaRPr 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4" y="1237632"/>
            <a:ext cx="11158404" cy="4797408"/>
          </a:xfrm>
        </p:spPr>
        <p:txBody>
          <a:bodyPr>
            <a:normAutofit/>
          </a:bodyPr>
          <a:lstStyle/>
          <a:p>
            <a:r>
              <a:rPr lang="en-IN" dirty="0"/>
              <a:t>Modern computer networks are continuously exposed to cyberattacks and unauthorized access attempts. Manually monitoring large volumes of network traffic is difficult, time-consuming, and prone to errors.</a:t>
            </a:r>
          </a:p>
          <a:p>
            <a:r>
              <a:rPr lang="en-IN" dirty="0"/>
              <a:t>Traditional security systems may fail to identify new or complex intrusion patterns efficiently. Therefore, an intelligent system is required to </a:t>
            </a:r>
            <a:r>
              <a:rPr lang="en-IN" dirty="0" err="1"/>
              <a:t>analyze</a:t>
            </a:r>
            <a:r>
              <a:rPr lang="en-IN" dirty="0"/>
              <a:t> network traffic data and distinguish normal network activity from malicious or anomalous activity.</a:t>
            </a:r>
          </a:p>
          <a:p>
            <a:r>
              <a:rPr lang="en-IN" dirty="0"/>
              <a:t>The objective is to develop a machine learning-based Network Intrusion Detection System capable of identifying suspicious traffic and supporting early detection of cyber threats.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IN" sz="1500" b="1" dirty="0" err="1"/>
              <a:t>CyberShield</a:t>
            </a:r>
            <a:r>
              <a:rPr lang="en-IN" sz="1500" b="1" dirty="0"/>
              <a:t> AI – Network Intrusion Detection System</a:t>
            </a:r>
          </a:p>
          <a:p>
            <a:r>
              <a:rPr lang="en-IN" sz="1200" dirty="0"/>
              <a:t>The proposed solution uses machine learning to classify network traffic as </a:t>
            </a:r>
            <a:r>
              <a:rPr lang="en-IN" sz="1200" b="1" dirty="0"/>
              <a:t>Normal</a:t>
            </a:r>
            <a:r>
              <a:rPr lang="en-IN" sz="1200" dirty="0"/>
              <a:t> or </a:t>
            </a:r>
            <a:r>
              <a:rPr lang="en-IN" sz="1200" b="1" dirty="0"/>
              <a:t>Anomaly</a:t>
            </a:r>
            <a:r>
              <a:rPr lang="en-IN" sz="1200" dirty="0"/>
              <a:t>.</a:t>
            </a:r>
          </a:p>
          <a:p>
            <a:r>
              <a:rPr lang="en-IN" sz="1200" b="1" dirty="0"/>
              <a:t>Main components</a:t>
            </a:r>
          </a:p>
          <a:p>
            <a:r>
              <a:rPr lang="en-IN" sz="1200" b="1" dirty="0"/>
              <a:t>Dataset Collection:</a:t>
            </a:r>
            <a:br>
              <a:rPr lang="en-IN" sz="1200" dirty="0"/>
            </a:br>
            <a:r>
              <a:rPr lang="en-IN" sz="1200" dirty="0"/>
              <a:t>Use a Network Intrusion Detection dataset containing normal and malicious network traffic records.</a:t>
            </a:r>
          </a:p>
          <a:p>
            <a:r>
              <a:rPr lang="en-IN" sz="1200" b="1" dirty="0"/>
              <a:t>Data Upload:</a:t>
            </a:r>
            <a:br>
              <a:rPr lang="en-IN" sz="1200" dirty="0"/>
            </a:br>
            <a:r>
              <a:rPr lang="en-IN" sz="1200" dirty="0"/>
              <a:t>Upload the training dataset to IBM watsonx.ai as a data asset.</a:t>
            </a:r>
          </a:p>
          <a:p>
            <a:r>
              <a:rPr lang="en-IN" sz="1200" b="1" dirty="0"/>
              <a:t>Data Preprocessing:</a:t>
            </a:r>
            <a:br>
              <a:rPr lang="en-IN" sz="1200" dirty="0"/>
            </a:br>
            <a:r>
              <a:rPr lang="en-IN" sz="1200" dirty="0"/>
              <a:t>Process numerical and categorical features such as protocol type, service, flag, source bytes, destination bytes, and connection statistics.</a:t>
            </a:r>
          </a:p>
          <a:p>
            <a:r>
              <a:rPr lang="en-IN" sz="1200" b="1" dirty="0"/>
              <a:t>Model Training:</a:t>
            </a:r>
            <a:br>
              <a:rPr lang="en-IN" sz="1200" dirty="0"/>
            </a:br>
            <a:r>
              <a:rPr lang="en-IN" sz="1200" dirty="0"/>
              <a:t>Use IBM watsonx.ai </a:t>
            </a:r>
            <a:r>
              <a:rPr lang="en-IN" sz="1200" dirty="0" err="1"/>
              <a:t>AutoAI</a:t>
            </a:r>
            <a:r>
              <a:rPr lang="en-IN" sz="1200" dirty="0"/>
              <a:t> to generate and compare multiple machine learning pipelines.</a:t>
            </a:r>
          </a:p>
          <a:p>
            <a:r>
              <a:rPr lang="en-IN" sz="1200" b="1" dirty="0"/>
              <a:t>Best Model Selection:</a:t>
            </a:r>
            <a:br>
              <a:rPr lang="en-IN" sz="1200" dirty="0"/>
            </a:br>
            <a:r>
              <a:rPr lang="en-IN" sz="1200" dirty="0"/>
              <a:t>Select the pipeline with the highest cross-validation performance.</a:t>
            </a:r>
          </a:p>
          <a:p>
            <a:r>
              <a:rPr lang="en-IN" sz="1200" b="1" dirty="0"/>
              <a:t>Model Deployment:</a:t>
            </a:r>
            <a:br>
              <a:rPr lang="en-IN" sz="1200" dirty="0"/>
            </a:br>
            <a:r>
              <a:rPr lang="en-IN" sz="1200" dirty="0"/>
              <a:t>Deploy the trained model as an online deployment using IBM watsonx.ai Runtime.</a:t>
            </a:r>
          </a:p>
          <a:p>
            <a:r>
              <a:rPr lang="en-IN" sz="1200" b="1" dirty="0"/>
              <a:t>Frontend Integration:</a:t>
            </a:r>
            <a:br>
              <a:rPr lang="en-IN" sz="1200" dirty="0"/>
            </a:br>
            <a:r>
              <a:rPr lang="en-IN" sz="1200" dirty="0"/>
              <a:t>Connect a </a:t>
            </a:r>
            <a:r>
              <a:rPr lang="en-IN" sz="1200" dirty="0" err="1"/>
              <a:t>Streamlit</a:t>
            </a:r>
            <a:r>
              <a:rPr lang="en-IN" sz="1200" dirty="0"/>
              <a:t> application to the IBM deployment API.</a:t>
            </a:r>
          </a:p>
          <a:p>
            <a:r>
              <a:rPr lang="en-IN" sz="1200" b="1" dirty="0"/>
              <a:t>Prediction:</a:t>
            </a:r>
            <a:br>
              <a:rPr lang="en-IN" sz="1200" dirty="0"/>
            </a:br>
            <a:r>
              <a:rPr lang="en-IN" sz="1200" dirty="0"/>
              <a:t>Allow users to upload test CSV data and receive Normal or Anomaly predictions.</a:t>
            </a:r>
          </a:p>
          <a:p>
            <a:pPr marL="0" indent="0"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192868"/>
            <a:ext cx="10470266" cy="5378245"/>
          </a:xfrm>
        </p:spPr>
        <p:txBody>
          <a:bodyPr>
            <a:normAutofit fontScale="62500" lnSpcReduction="20000"/>
          </a:bodyPr>
          <a:lstStyle/>
          <a:p>
            <a:r>
              <a:rPr lang="en-IN" sz="1800" b="1" dirty="0"/>
              <a:t>System Requirements</a:t>
            </a:r>
          </a:p>
          <a:p>
            <a:r>
              <a:rPr lang="en-IN" sz="1800" b="1" dirty="0"/>
              <a:t>Hardware Requirements</a:t>
            </a:r>
          </a:p>
          <a:p>
            <a:r>
              <a:rPr lang="en-IN" sz="1800" dirty="0"/>
              <a:t>Computer or laptop</a:t>
            </a:r>
          </a:p>
          <a:p>
            <a:r>
              <a:rPr lang="en-IN" sz="1800" dirty="0"/>
              <a:t>Stable internet connection</a:t>
            </a:r>
          </a:p>
          <a:p>
            <a:r>
              <a:rPr lang="en-IN" sz="1800" dirty="0"/>
              <a:t>Minimum 4 GB RAM</a:t>
            </a:r>
          </a:p>
          <a:p>
            <a:r>
              <a:rPr lang="en-IN" sz="1800" b="1" dirty="0"/>
              <a:t>Software and Services</a:t>
            </a:r>
          </a:p>
          <a:p>
            <a:r>
              <a:rPr lang="en-IN" sz="1800" dirty="0"/>
              <a:t>Python</a:t>
            </a:r>
          </a:p>
          <a:p>
            <a:r>
              <a:rPr lang="en-IN" sz="1800" dirty="0"/>
              <a:t>IBM Cloud Lite</a:t>
            </a:r>
          </a:p>
          <a:p>
            <a:r>
              <a:rPr lang="en-IN" sz="1800" dirty="0"/>
              <a:t>IBM watsonx.ai</a:t>
            </a:r>
          </a:p>
          <a:p>
            <a:r>
              <a:rPr lang="en-IN" sz="1800" dirty="0"/>
              <a:t>IBM watsonx.ai </a:t>
            </a:r>
            <a:r>
              <a:rPr lang="en-IN" sz="1800" dirty="0" err="1"/>
              <a:t>AutoAI</a:t>
            </a:r>
            <a:endParaRPr lang="en-IN" sz="1800" dirty="0"/>
          </a:p>
          <a:p>
            <a:r>
              <a:rPr lang="en-IN" sz="1800" dirty="0"/>
              <a:t>IBM watsonx.ai Runtime</a:t>
            </a:r>
          </a:p>
          <a:p>
            <a:r>
              <a:rPr lang="en-IN" sz="1800" dirty="0"/>
              <a:t>Visual Studio Code</a:t>
            </a:r>
          </a:p>
          <a:p>
            <a:r>
              <a:rPr lang="en-IN" sz="1800" dirty="0" err="1"/>
              <a:t>Streamlit</a:t>
            </a:r>
            <a:endParaRPr lang="en-IN" sz="1800" dirty="0"/>
          </a:p>
          <a:p>
            <a:r>
              <a:rPr lang="en-IN" sz="1800" b="1" dirty="0"/>
              <a:t>Python Libraries</a:t>
            </a:r>
          </a:p>
          <a:p>
            <a:r>
              <a:rPr lang="en-IN" sz="1800" dirty="0" err="1"/>
              <a:t>Streamlit</a:t>
            </a:r>
            <a:endParaRPr lang="en-IN" sz="1800" dirty="0"/>
          </a:p>
          <a:p>
            <a:r>
              <a:rPr lang="en-IN" sz="1800" dirty="0"/>
              <a:t>Pandas</a:t>
            </a:r>
          </a:p>
          <a:p>
            <a:r>
              <a:rPr lang="en-IN" sz="1800" dirty="0"/>
              <a:t>Requests</a:t>
            </a:r>
          </a:p>
          <a:p>
            <a:r>
              <a:rPr lang="en-IN" sz="1800" dirty="0"/>
              <a:t>python-</a:t>
            </a:r>
            <a:r>
              <a:rPr lang="en-IN" sz="1800" dirty="0" err="1"/>
              <a:t>dotenv</a:t>
            </a:r>
            <a:endParaRPr lang="en-IN" sz="1800" dirty="0"/>
          </a:p>
          <a:p>
            <a:r>
              <a:rPr lang="en-IN" sz="1800" b="1" dirty="0"/>
              <a:t>System Workflow</a:t>
            </a:r>
          </a:p>
          <a:p>
            <a:r>
              <a:rPr lang="en-IN" sz="1800" dirty="0"/>
              <a:t>Dataset → IBM watsonx.ai </a:t>
            </a:r>
            <a:r>
              <a:rPr lang="en-IN" sz="1800" dirty="0" err="1"/>
              <a:t>AutoAI</a:t>
            </a:r>
            <a:r>
              <a:rPr lang="en-IN" sz="1800" dirty="0"/>
              <a:t> → Model Training → Best Pipeline → Online Deployment → REST API → </a:t>
            </a:r>
            <a:r>
              <a:rPr lang="en-IN" sz="1800" dirty="0" err="1"/>
              <a:t>Streamlit</a:t>
            </a:r>
            <a:r>
              <a:rPr lang="en-IN" sz="1800" dirty="0"/>
              <a:t> Frontend → Prediction Output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2417053" cy="5462568"/>
          </a:xfrm>
        </p:spPr>
        <p:txBody>
          <a:bodyPr>
            <a:normAutofit fontScale="55000" lnSpcReduction="20000"/>
          </a:bodyPr>
          <a:lstStyle/>
          <a:p>
            <a:r>
              <a:rPr lang="en-IN" sz="1400" b="1" dirty="0"/>
              <a:t>Algorithm Selection</a:t>
            </a:r>
          </a:p>
          <a:p>
            <a:r>
              <a:rPr lang="en-IN" sz="1400" dirty="0"/>
              <a:t>IBM watsonx.ai </a:t>
            </a:r>
            <a:r>
              <a:rPr lang="en-IN" sz="1400" dirty="0" err="1"/>
              <a:t>AutoAI</a:t>
            </a:r>
            <a:r>
              <a:rPr lang="en-IN" sz="1400" dirty="0"/>
              <a:t> generated eight machine learning pipelines and compared them using cross-validation performance.</a:t>
            </a:r>
          </a:p>
          <a:p>
            <a:r>
              <a:rPr lang="en-IN" sz="1400" dirty="0"/>
              <a:t>The best-performing model was:</a:t>
            </a:r>
          </a:p>
          <a:p>
            <a:r>
              <a:rPr lang="en-IN" sz="1400" b="1" dirty="0"/>
              <a:t>Algorithm:</a:t>
            </a:r>
            <a:r>
              <a:rPr lang="en-IN" sz="1400" dirty="0"/>
              <a:t> Snap Decision Tree Classifier</a:t>
            </a:r>
          </a:p>
          <a:p>
            <a:r>
              <a:rPr lang="en-IN" sz="1400" b="1" dirty="0"/>
              <a:t>Prediction Type:</a:t>
            </a:r>
            <a:r>
              <a:rPr lang="en-IN" sz="1400" dirty="0"/>
              <a:t> Binary Classification</a:t>
            </a:r>
          </a:p>
          <a:p>
            <a:r>
              <a:rPr lang="en-IN" sz="1400" b="1" dirty="0"/>
              <a:t>Target Column:</a:t>
            </a:r>
            <a:r>
              <a:rPr lang="en-IN" sz="1400" dirty="0"/>
              <a:t> class</a:t>
            </a:r>
          </a:p>
          <a:p>
            <a:r>
              <a:rPr lang="en-IN" sz="1400" b="1" dirty="0"/>
              <a:t>Classes:</a:t>
            </a:r>
            <a:r>
              <a:rPr lang="en-IN" sz="1400" dirty="0"/>
              <a:t> Normal and Anomaly</a:t>
            </a:r>
          </a:p>
          <a:p>
            <a:r>
              <a:rPr lang="en-IN" sz="1400" b="1" dirty="0"/>
              <a:t>Accuracy:</a:t>
            </a:r>
            <a:r>
              <a:rPr lang="en-IN" sz="1400" dirty="0"/>
              <a:t> 0.995 or 99.5%</a:t>
            </a:r>
          </a:p>
          <a:p>
            <a:r>
              <a:rPr lang="en-IN" sz="1400" b="1" dirty="0"/>
              <a:t>Data Input</a:t>
            </a:r>
          </a:p>
          <a:p>
            <a:r>
              <a:rPr lang="en-IN" sz="1400" dirty="0"/>
              <a:t>The model uses network traffic features such as:</a:t>
            </a:r>
          </a:p>
          <a:p>
            <a:r>
              <a:rPr lang="en-IN" sz="1400" dirty="0"/>
              <a:t>Duration, </a:t>
            </a:r>
            <a:r>
              <a:rPr lang="en-IN" sz="1400" dirty="0" err="1"/>
              <a:t>protocol_type</a:t>
            </a:r>
            <a:r>
              <a:rPr lang="en-IN" sz="1400" dirty="0"/>
              <a:t>, service, flag, </a:t>
            </a:r>
            <a:r>
              <a:rPr lang="en-IN" sz="1400" dirty="0" err="1"/>
              <a:t>src</a:t>
            </a:r>
            <a:r>
              <a:rPr lang="en-IN" sz="1400" dirty="0"/>
              <a:t> bytes , </a:t>
            </a:r>
            <a:r>
              <a:rPr lang="en-IN" sz="1400" dirty="0" err="1"/>
              <a:t>dst</a:t>
            </a:r>
            <a:r>
              <a:rPr lang="en-IN" sz="1400" dirty="0"/>
              <a:t> bytes, connection and host-related statistics</a:t>
            </a:r>
          </a:p>
          <a:p>
            <a:r>
              <a:rPr lang="en-IN" sz="1400" b="1" dirty="0"/>
              <a:t>Training Process</a:t>
            </a:r>
          </a:p>
          <a:p>
            <a:r>
              <a:rPr lang="en-IN" sz="1400" dirty="0"/>
              <a:t>Uploaded </a:t>
            </a:r>
            <a:r>
              <a:rPr lang="en-IN" dirty="0"/>
              <a:t>Train_data.csv</a:t>
            </a:r>
            <a:r>
              <a:rPr lang="en-IN" sz="1400" dirty="0"/>
              <a:t> to IBM watsonx.ai</a:t>
            </a:r>
          </a:p>
          <a:p>
            <a:r>
              <a:rPr lang="en-IN" sz="1400" dirty="0"/>
              <a:t>Selected </a:t>
            </a:r>
            <a:r>
              <a:rPr lang="en-IN" dirty="0"/>
              <a:t>class</a:t>
            </a:r>
            <a:r>
              <a:rPr lang="en-IN" sz="1400" dirty="0"/>
              <a:t> as the prediction column</a:t>
            </a:r>
          </a:p>
          <a:p>
            <a:r>
              <a:rPr lang="en-IN" sz="1400" dirty="0"/>
              <a:t>Disabled time-series analysis</a:t>
            </a:r>
          </a:p>
          <a:p>
            <a:r>
              <a:rPr lang="en-IN" sz="1400" dirty="0"/>
              <a:t>Ran the </a:t>
            </a:r>
            <a:r>
              <a:rPr lang="en-IN" sz="1400" dirty="0" err="1"/>
              <a:t>AutoAI</a:t>
            </a:r>
            <a:r>
              <a:rPr lang="en-IN" sz="1400" dirty="0"/>
              <a:t> experiment</a:t>
            </a:r>
          </a:p>
          <a:p>
            <a:r>
              <a:rPr lang="en-IN" sz="1400" dirty="0"/>
              <a:t>Compared eight generated pipelines</a:t>
            </a:r>
          </a:p>
          <a:p>
            <a:r>
              <a:rPr lang="en-IN" sz="1400" dirty="0"/>
              <a:t>Selected the highest-ranked pipeline</a:t>
            </a:r>
          </a:p>
          <a:p>
            <a:r>
              <a:rPr lang="en-IN" sz="1400" b="1" dirty="0"/>
              <a:t>Deployment Process</a:t>
            </a:r>
          </a:p>
          <a:p>
            <a:r>
              <a:rPr lang="en-IN" sz="1400" dirty="0"/>
              <a:t>Saved the best pipeline as a model</a:t>
            </a:r>
          </a:p>
          <a:p>
            <a:r>
              <a:rPr lang="en-IN" sz="1400" dirty="0"/>
              <a:t>Created a deployment space</a:t>
            </a:r>
          </a:p>
          <a:p>
            <a:r>
              <a:rPr lang="en-IN" sz="1400" dirty="0"/>
              <a:t>Created an online deployment</a:t>
            </a:r>
          </a:p>
          <a:p>
            <a:r>
              <a:rPr lang="en-IN" sz="1400" dirty="0"/>
              <a:t>Generated a secured public REST API endpoint</a:t>
            </a:r>
          </a:p>
          <a:p>
            <a:r>
              <a:rPr lang="en-IN" sz="1400" dirty="0"/>
              <a:t>Connected the endpoint to the </a:t>
            </a:r>
            <a:r>
              <a:rPr lang="en-IN" sz="1400" dirty="0" err="1"/>
              <a:t>Streamlit</a:t>
            </a:r>
            <a:r>
              <a:rPr lang="en-IN" sz="1400" dirty="0"/>
              <a:t> frontend</a:t>
            </a:r>
          </a:p>
          <a:p>
            <a:br>
              <a:rPr lang="en-IN" sz="1400" dirty="0"/>
            </a:b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2400" dirty="0"/>
              <a:t>The IBM watsonx.ai </a:t>
            </a:r>
            <a:r>
              <a:rPr lang="en-IN" sz="2400" dirty="0" err="1"/>
              <a:t>AutoAI</a:t>
            </a:r>
            <a:r>
              <a:rPr lang="en-IN" sz="2400" dirty="0"/>
              <a:t> experiment successfully generated eight machine learning pipelines.</a:t>
            </a:r>
          </a:p>
          <a:p>
            <a:r>
              <a:rPr lang="en-IN" sz="2400" b="1" dirty="0"/>
              <a:t>Final Results</a:t>
            </a:r>
          </a:p>
          <a:p>
            <a:r>
              <a:rPr lang="en-IN" sz="2400" dirty="0"/>
              <a:t>Best Model: Snap Decision Tree Classifier</a:t>
            </a:r>
          </a:p>
          <a:p>
            <a:r>
              <a:rPr lang="en-IN" sz="2400" dirty="0"/>
              <a:t>Cross-Validation Accuracy: 0.995</a:t>
            </a:r>
          </a:p>
          <a:p>
            <a:r>
              <a:rPr lang="en-IN" sz="2400" dirty="0"/>
              <a:t>Output Classes: Normal and Anomaly</a:t>
            </a:r>
          </a:p>
          <a:p>
            <a:r>
              <a:rPr lang="en-IN" sz="2400" dirty="0"/>
              <a:t>Deployment Status: Online and Deployed</a:t>
            </a:r>
          </a:p>
          <a:p>
            <a:r>
              <a:rPr lang="en-IN" sz="2400" dirty="0"/>
              <a:t>Frontend: </a:t>
            </a:r>
            <a:r>
              <a:rPr lang="en-IN" sz="2400" dirty="0" err="1"/>
              <a:t>Streamlit</a:t>
            </a:r>
            <a:r>
              <a:rPr lang="en-IN" sz="2400" dirty="0"/>
              <a:t> application</a:t>
            </a:r>
          </a:p>
          <a:p>
            <a:r>
              <a:rPr lang="en-IN" sz="2400" dirty="0"/>
              <a:t>Input Method: CSV file upload</a:t>
            </a:r>
          </a:p>
          <a:p>
            <a:r>
              <a:rPr lang="en-IN" sz="2400" dirty="0"/>
              <a:t>Prediction Output: Classification and probability values</a:t>
            </a:r>
          </a:p>
          <a:p>
            <a:r>
              <a:rPr lang="en-IN" sz="2400" dirty="0"/>
              <a:t>The deployed model successfully classified test network traffic records through the </a:t>
            </a:r>
            <a:r>
              <a:rPr lang="en-IN" sz="2400" dirty="0" err="1"/>
              <a:t>Streamlit</a:t>
            </a:r>
            <a:r>
              <a:rPr lang="en-IN" sz="2400" dirty="0"/>
              <a:t> interface.</a:t>
            </a: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A14D-B33A-B907-BAC7-3DA244217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Screenshots regarding deployments </a:t>
            </a:r>
            <a:endParaRPr lang="en-IN" dirty="0">
              <a:solidFill>
                <a:schemeClr val="accent1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483745-2542-263E-35F9-739AAE599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459066"/>
            <a:ext cx="5396821" cy="32800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0AAB00-B085-4298-4EFD-4FE462DAC7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051"/>
          <a:stretch>
            <a:fillRect/>
          </a:stretch>
        </p:blipFill>
        <p:spPr>
          <a:xfrm>
            <a:off x="6213989" y="1459066"/>
            <a:ext cx="5545393" cy="307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69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7243-CEF6-225F-5C3A-D6822381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Streamlit</a:t>
            </a:r>
            <a:r>
              <a:rPr lang="en-US" dirty="0">
                <a:solidFill>
                  <a:schemeClr val="accent1"/>
                </a:solidFill>
              </a:rPr>
              <a:t> interface</a:t>
            </a:r>
            <a:endParaRPr lang="en-IN" dirty="0">
              <a:solidFill>
                <a:schemeClr val="accent1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90E577E-A6B9-5941-DB7C-E47003919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547557"/>
            <a:ext cx="5254432" cy="29556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68C653-7778-D4B9-71C8-DCA397658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54977"/>
            <a:ext cx="5931102" cy="274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70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D9D3D-AC3F-ACF1-2985-9F5D4D50C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Prediction result</a:t>
            </a:r>
            <a:endParaRPr lang="en-IN" dirty="0">
              <a:solidFill>
                <a:schemeClr val="accent1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27A40B-8921-4DD0-7956-0C8C63EB3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1969" y="1301750"/>
            <a:ext cx="9988062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188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 err="1"/>
              <a:t>CyberShield</a:t>
            </a:r>
            <a:r>
              <a:rPr lang="en-IN" sz="2000" dirty="0"/>
              <a:t> AI successfully demonstrates an end-to-end machine learning solution for network intrusion detection.</a:t>
            </a:r>
          </a:p>
          <a:p>
            <a:r>
              <a:rPr lang="en-IN" sz="2000" dirty="0"/>
              <a:t>The system uses IBM watsonx.ai </a:t>
            </a:r>
            <a:r>
              <a:rPr lang="en-IN" sz="2000" dirty="0" err="1"/>
              <a:t>AutoAI</a:t>
            </a:r>
            <a:r>
              <a:rPr lang="en-IN" sz="2000" dirty="0"/>
              <a:t> to train and evaluate multiple classification pipelines. The best-performing Snap Decision Tree Classifier achieved 99.5% cross-validation accuracy.</a:t>
            </a:r>
          </a:p>
          <a:p>
            <a:r>
              <a:rPr lang="en-IN" sz="2000" dirty="0"/>
              <a:t>The model was deployed using IBM watsonx.ai Runtime and connected to a </a:t>
            </a:r>
            <a:r>
              <a:rPr lang="en-IN" sz="2000" dirty="0" err="1"/>
              <a:t>Streamlit</a:t>
            </a:r>
            <a:r>
              <a:rPr lang="en-IN" sz="2000" dirty="0"/>
              <a:t> frontend through a secured API endpoint. Users can upload network traffic data and receive Normal or Anomaly predictions.</a:t>
            </a:r>
          </a:p>
          <a:p>
            <a:r>
              <a:rPr lang="en-IN" sz="2000" dirty="0"/>
              <a:t>The project demonstrates practical knowledge of machine learning, cybersecurity, cloud deployment, API integration, and frontend development.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000" b="1" dirty="0"/>
          </a:p>
          <a:p>
            <a:r>
              <a:rPr lang="en-IN" sz="2000" b="1" dirty="0"/>
              <a:t>Real-Time Traffic Monitoring:</a:t>
            </a:r>
            <a:br>
              <a:rPr lang="en-IN" sz="2000" dirty="0"/>
            </a:br>
            <a:r>
              <a:rPr lang="en-IN" sz="2000" dirty="0"/>
              <a:t>Capture and </a:t>
            </a:r>
            <a:r>
              <a:rPr lang="en-IN" sz="2000" dirty="0" err="1"/>
              <a:t>analyze</a:t>
            </a:r>
            <a:r>
              <a:rPr lang="en-IN" sz="2000" dirty="0"/>
              <a:t> live network packets instead of relying only on uploaded CSV files.</a:t>
            </a:r>
          </a:p>
          <a:p>
            <a:r>
              <a:rPr lang="en-IN" sz="2000" b="1" dirty="0"/>
              <a:t>Multi-Class Attack Detection:</a:t>
            </a:r>
            <a:br>
              <a:rPr lang="en-IN" sz="2000" dirty="0"/>
            </a:br>
            <a:r>
              <a:rPr lang="en-IN" sz="2000" dirty="0"/>
              <a:t>Classify attacks into categories such as DoS, Probe, R2L, and U2R.</a:t>
            </a:r>
          </a:p>
          <a:p>
            <a:r>
              <a:rPr lang="en-IN" sz="2000" b="1" dirty="0"/>
              <a:t>Alert System:</a:t>
            </a:r>
            <a:br>
              <a:rPr lang="en-IN" sz="2000" dirty="0"/>
            </a:br>
            <a:r>
              <a:rPr lang="en-IN" sz="2000" dirty="0"/>
              <a:t>Send email, SMS, or dashboard notifications when malicious activity is detected.</a:t>
            </a:r>
          </a:p>
          <a:p>
            <a:r>
              <a:rPr lang="en-IN" sz="2000" b="1" dirty="0"/>
              <a:t>Advanced Models:</a:t>
            </a:r>
            <a:br>
              <a:rPr lang="en-IN" sz="2000" dirty="0"/>
            </a:br>
            <a:r>
              <a:rPr lang="en-IN" sz="2000" dirty="0"/>
              <a:t>Test Random Forest, </a:t>
            </a:r>
            <a:r>
              <a:rPr lang="en-IN" sz="2000" dirty="0" err="1"/>
              <a:t>XGBoost</a:t>
            </a:r>
            <a:r>
              <a:rPr lang="en-IN" sz="2000" dirty="0"/>
              <a:t>, neural networks, LSTM, and hybrid deep-learning models.</a:t>
            </a:r>
          </a:p>
          <a:p>
            <a:r>
              <a:rPr lang="en-IN" sz="2000" b="1" dirty="0"/>
              <a:t>Security Dashboard:</a:t>
            </a:r>
            <a:br>
              <a:rPr lang="en-IN" sz="2000" dirty="0"/>
            </a:br>
            <a:r>
              <a:rPr lang="en-IN" sz="2000" dirty="0"/>
              <a:t>Display attack counts, risk levels, prediction history, and network-security trends.</a:t>
            </a:r>
          </a:p>
          <a:p>
            <a:r>
              <a:rPr lang="en-IN" sz="2000" b="1" dirty="0"/>
              <a:t>Continuous Model Retraining:</a:t>
            </a:r>
            <a:br>
              <a:rPr lang="en-IN" sz="2000" dirty="0"/>
            </a:br>
            <a:r>
              <a:rPr lang="en-IN" sz="2000" dirty="0"/>
              <a:t>Retrain the model using newly collected network traffic data.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IN" sz="2400" dirty="0"/>
              <a:t>IBM watsonx.ai Documentation</a:t>
            </a:r>
          </a:p>
          <a:p>
            <a:pPr marL="305435" indent="-305435"/>
            <a:r>
              <a:rPr lang="en-IN" sz="2400" dirty="0"/>
              <a:t>IBM watsonx.ai </a:t>
            </a:r>
            <a:r>
              <a:rPr lang="en-IN" sz="2400" dirty="0" err="1"/>
              <a:t>AutoAI</a:t>
            </a:r>
            <a:r>
              <a:rPr lang="en-IN" sz="2400" dirty="0"/>
              <a:t> Documentation</a:t>
            </a:r>
          </a:p>
          <a:p>
            <a:pPr marL="305435" indent="-305435"/>
            <a:r>
              <a:rPr lang="en-IN" sz="2400" dirty="0"/>
              <a:t>IBM Cloud Documentation</a:t>
            </a:r>
          </a:p>
          <a:p>
            <a:pPr marL="305435" indent="-305435"/>
            <a:r>
              <a:rPr lang="en-IN" sz="2400" dirty="0" err="1"/>
              <a:t>Streamlit</a:t>
            </a:r>
            <a:r>
              <a:rPr lang="en-IN" sz="2400" dirty="0"/>
              <a:t> Documentation</a:t>
            </a:r>
          </a:p>
          <a:p>
            <a:pPr marL="305435" indent="-305435"/>
            <a:r>
              <a:rPr lang="en-IN" sz="2400" dirty="0"/>
              <a:t>Python Documentation</a:t>
            </a:r>
          </a:p>
          <a:p>
            <a:pPr marL="305435" indent="-305435"/>
            <a:r>
              <a:rPr lang="en-IN" sz="2400" dirty="0"/>
              <a:t>Pandas Documentation</a:t>
            </a:r>
          </a:p>
          <a:p>
            <a:pPr marL="305435" indent="-305435"/>
            <a:r>
              <a:rPr lang="en-IN" sz="2400" dirty="0"/>
              <a:t>Kaggle Network Intrusion Detection Dataset</a:t>
            </a:r>
          </a:p>
          <a:p>
            <a:pPr marL="305435" indent="-305435"/>
            <a:r>
              <a:rPr lang="en-IN" sz="2400" dirty="0"/>
              <a:t>AICTE–IBM </a:t>
            </a:r>
            <a:r>
              <a:rPr lang="en-IN" sz="2400" dirty="0" err="1"/>
              <a:t>SkillsBuild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 link / </a:t>
            </a:r>
            <a:r>
              <a:rPr lang="en-IN" dirty="0" err="1"/>
              <a:t>github</a:t>
            </a:r>
            <a:r>
              <a:rPr lang="en-IN" dirty="0"/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Public GitHub Repository</a:t>
            </a:r>
          </a:p>
          <a:p>
            <a:r>
              <a:rPr lang="en-US" sz="18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/>
              </a:rPr>
              <a:t>https://github.com/lucia-builds/cybershield-ai-network-intrusion-detection.git</a:t>
            </a:r>
            <a:endParaRPr lang="en-IN" dirty="0"/>
          </a:p>
          <a:p>
            <a:r>
              <a:rPr lang="en-IN" b="1" dirty="0"/>
              <a:t>IBM Cloud Model Deployment Endpoint</a:t>
            </a:r>
          </a:p>
          <a:p>
            <a:pPr marL="0" marR="0" lvl="0" indent="0" algn="l" defTabSz="914400" rtl="0" eaLnBrk="1" fontAlgn="auto" latinLnBrk="0" hangingPunct="1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/>
              <a:buNone/>
              <a:tabLst/>
              <a:defRPr/>
            </a:pPr>
            <a:r>
              <a:rPr lang="en-US" sz="1600" kern="0" dirty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https://au-syd.ml.cloud.ibm.com/ml/v4/deployments/cybershield_ai/predictions?version=2021-05-01</a:t>
            </a:r>
          </a:p>
          <a:p>
            <a:r>
              <a:rPr lang="en-IN" b="1" dirty="0"/>
              <a:t>Repository Files</a:t>
            </a:r>
          </a:p>
          <a:p>
            <a:r>
              <a:rPr lang="en-IN" dirty="0"/>
              <a:t>app.py</a:t>
            </a:r>
          </a:p>
          <a:p>
            <a:r>
              <a:rPr lang="en-IN" dirty="0" err="1"/>
              <a:t>app.json</a:t>
            </a:r>
            <a:endParaRPr lang="en-IN" dirty="0"/>
          </a:p>
          <a:p>
            <a:r>
              <a:rPr lang="en-IN" dirty="0"/>
              <a:t>requirements.txt</a:t>
            </a:r>
          </a:p>
          <a:p>
            <a:r>
              <a:rPr lang="en-IN" dirty="0"/>
              <a:t>README.md</a:t>
            </a:r>
          </a:p>
          <a:p>
            <a:r>
              <a:rPr lang="en-IN" dirty="0"/>
              <a:t>.</a:t>
            </a:r>
            <a:r>
              <a:rPr lang="en-IN" dirty="0" err="1"/>
              <a:t>gitignore</a:t>
            </a:r>
            <a:endParaRPr lang="en-IN" dirty="0"/>
          </a:p>
          <a:p>
            <a:r>
              <a:rPr lang="en-IN" dirty="0"/>
              <a:t>problemstatement.pdf</a:t>
            </a:r>
          </a:p>
          <a:p>
            <a:r>
              <a:rPr lang="en-IN" dirty="0"/>
              <a:t>projectpresentation.pptx</a:t>
            </a:r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schemas.microsoft.com/office/2006/documentManagement/types"/>
    <ds:schemaRef ds:uri="http://purl.org/dc/dcmitype/"/>
    <ds:schemaRef ds:uri="c0fa2617-96bd-425d-8578-e93563fe37c5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9162bd5b-4ed9-4da3-b376-05204580ba3f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126</TotalTime>
  <Words>942</Words>
  <Application>Microsoft Office PowerPoint</Application>
  <PresentationFormat>Widescreen</PresentationFormat>
  <Paragraphs>130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Franklin Gothic Book</vt:lpstr>
      <vt:lpstr>Franklin Gothic Demi</vt:lpstr>
      <vt:lpstr>Times New Roman</vt:lpstr>
      <vt:lpstr>Wingdings 2</vt:lpstr>
      <vt:lpstr>DividendVTI</vt:lpstr>
      <vt:lpstr>CyberShield AI Machine Learning-Based Network Intrusion Detection System 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Screenshots regarding deployments </vt:lpstr>
      <vt:lpstr>Streamlit interface</vt:lpstr>
      <vt:lpstr>Prediction result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Anwesha Sural</cp:lastModifiedBy>
  <cp:revision>21</cp:revision>
  <dcterms:created xsi:type="dcterms:W3CDTF">2021-05-26T16:50:10Z</dcterms:created>
  <dcterms:modified xsi:type="dcterms:W3CDTF">2026-06-26T22:40:50Z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